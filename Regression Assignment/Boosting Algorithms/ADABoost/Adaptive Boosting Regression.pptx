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3F3C26D-C1D2-47E0-B594-9237E272341F}">
  <a:tblStyle styleId="{F3F3C26D-C1D2-47E0-B594-9237E272341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5148e09c4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5148e09c4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5148e09c45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5148e09c45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5148e09c45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5148e09c45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5148e09c45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5148e09c45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5148e09c45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5148e09c45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5148e09c45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5148e09c45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5148e09c45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5148e09c45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5148e09c45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5148e09c45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Verdana"/>
                <a:ea typeface="Verdana"/>
                <a:cs typeface="Verdana"/>
                <a:sym typeface="Verdana"/>
              </a:rPr>
              <a:t>ADABOOST Regression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500">
                <a:latin typeface="Verdana"/>
                <a:ea typeface="Verdana"/>
                <a:cs typeface="Verdana"/>
                <a:sym typeface="Verdana"/>
              </a:rPr>
              <a:t>What is </a:t>
            </a:r>
            <a:r>
              <a:rPr lang="en" sz="2500">
                <a:solidFill>
                  <a:srgbClr val="001D35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Adaptive Boosting </a:t>
            </a:r>
            <a:r>
              <a:rPr lang="en" sz="2500">
                <a:latin typeface="Verdana"/>
                <a:ea typeface="Verdana"/>
                <a:cs typeface="Verdana"/>
                <a:sym typeface="Verdana"/>
              </a:rPr>
              <a:t>ADABOOST?</a:t>
            </a:r>
            <a:endParaRPr sz="25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AdaBoost Regression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(also known as </a:t>
            </a:r>
            <a:r>
              <a:rPr b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AdaBoost.R2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is a type of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boosting algorithm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used for </a:t>
            </a:r>
            <a:r>
              <a:rPr b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regression tasks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It works similarly to AdaBoost for classification, but instead of focusing on misclassified examples, it tries to minimize errors in predicting continuous values.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47474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The AdaBoost algorithm is a machine learning technique that </a:t>
            </a:r>
            <a:r>
              <a:rPr lang="en" sz="1200">
                <a:solidFill>
                  <a:srgbClr val="040C28"/>
                </a:solidFill>
                <a:highlight>
                  <a:srgbClr val="D3E3FD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combines multiple weak classifiers to create a strong classifier by adjusting the weights of training samples</a:t>
            </a:r>
            <a:r>
              <a:rPr lang="en" sz="1200">
                <a:solidFill>
                  <a:srgbClr val="47474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. It is widely used in various object detection applications to improve performance.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Ensemble method in machine learning re-assign weight to each instance higher weights for in correcting classified.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Reduce bias and variance.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fixed depth for Decision Tree Adaboost takes only stumps.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5" title="Adaboos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5675" y="76200"/>
            <a:ext cx="6695450" cy="5025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6" title="Adaboost vs Decision Tr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3975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Verdana"/>
                <a:ea typeface="Verdana"/>
                <a:cs typeface="Verdana"/>
                <a:sym typeface="Verdana"/>
              </a:rPr>
              <a:t>How AdaBoost Regression Works:</a:t>
            </a:r>
            <a:endParaRPr sz="22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latin typeface="Times New Roman"/>
                <a:ea typeface="Times New Roman"/>
                <a:cs typeface="Times New Roman"/>
                <a:sym typeface="Times New Roman"/>
              </a:rPr>
              <a:t>Step 01</a:t>
            </a: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 - Initial weight assigned to each item = 1/n (No of records).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latin typeface="Times New Roman"/>
                <a:ea typeface="Times New Roman"/>
                <a:cs typeface="Times New Roman"/>
                <a:sym typeface="Times New Roman"/>
              </a:rPr>
              <a:t>Step 02</a:t>
            </a: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 - Iterate for each Week classifier.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a. </a:t>
            </a:r>
            <a:r>
              <a:rPr b="1" i="1" lang="en" sz="1400">
                <a:latin typeface="Times New Roman"/>
                <a:ea typeface="Times New Roman"/>
                <a:cs typeface="Times New Roman"/>
                <a:sym typeface="Times New Roman"/>
              </a:rPr>
              <a:t>Decision stump</a:t>
            </a:r>
            <a:endParaRPr b="1" i="1"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 - Train the Decision stump with a random bootstrap sample from the training dataset.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 - Since there are only n data instances, use the full training dataset.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b. Compute the weighted error on current training dataset.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c. Compute the weight of each week classifier 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   Performance of stumps = 1/2loge((1 - Total Errors)/Total Errors)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8"/>
          <p:cNvSpPr txBox="1"/>
          <p:nvPr>
            <p:ph idx="1" type="body"/>
          </p:nvPr>
        </p:nvSpPr>
        <p:spPr>
          <a:xfrm>
            <a:off x="311700" y="523300"/>
            <a:ext cx="8520600" cy="360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latin typeface="Times New Roman"/>
                <a:ea typeface="Times New Roman"/>
                <a:cs typeface="Times New Roman"/>
                <a:sym typeface="Times New Roman"/>
              </a:rPr>
              <a:t>d. Calculate the normalizing factor.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latin typeface="Times New Roman"/>
                <a:ea typeface="Times New Roman"/>
                <a:cs typeface="Times New Roman"/>
                <a:sym typeface="Times New Roman"/>
              </a:rPr>
              <a:t>   Normalizing factor = In correcting classified points + Correcting classified points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latin typeface="Times New Roman"/>
                <a:ea typeface="Times New Roman"/>
                <a:cs typeface="Times New Roman"/>
                <a:sym typeface="Times New Roman"/>
              </a:rPr>
              <a:t>   In correcting classified points of weight = weight x e power of performance say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latin typeface="Times New Roman"/>
                <a:ea typeface="Times New Roman"/>
                <a:cs typeface="Times New Roman"/>
                <a:sym typeface="Times New Roman"/>
              </a:rPr>
              <a:t>   Correcting classified points for weight = weight x e - power of performance say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latin typeface="Times New Roman"/>
                <a:ea typeface="Times New Roman"/>
                <a:cs typeface="Times New Roman"/>
                <a:sym typeface="Times New Roman"/>
              </a:rPr>
              <a:t>e. Update the weight  of all data instances: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latin typeface="Times New Roman"/>
                <a:ea typeface="Times New Roman"/>
                <a:cs typeface="Times New Roman"/>
                <a:sym typeface="Times New Roman"/>
              </a:rPr>
              <a:t>   (1/n*(e power of - Correcting classified points))/Normalizing factor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latin typeface="Times New Roman"/>
                <a:ea typeface="Times New Roman"/>
                <a:cs typeface="Times New Roman"/>
                <a:sym typeface="Times New Roman"/>
              </a:rPr>
              <a:t>   (1/n*(e power of In correcting classified points))/Normalizing factor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latin typeface="Times New Roman"/>
                <a:ea typeface="Times New Roman"/>
                <a:cs typeface="Times New Roman"/>
                <a:sym typeface="Times New Roman"/>
              </a:rPr>
              <a:t>Step 03</a:t>
            </a:r>
            <a:r>
              <a:rPr lang="en" sz="1300">
                <a:latin typeface="Times New Roman"/>
                <a:ea typeface="Times New Roman"/>
                <a:cs typeface="Times New Roman"/>
                <a:sym typeface="Times New Roman"/>
              </a:rPr>
              <a:t> - Compute the final predicted value for each data instance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Verdana"/>
                <a:ea typeface="Verdana"/>
                <a:cs typeface="Verdana"/>
                <a:sym typeface="Verdana"/>
              </a:rPr>
              <a:t>Key Parameters: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graphicFrame>
        <p:nvGraphicFramePr>
          <p:cNvPr id="87" name="Google Shape;87;p19"/>
          <p:cNvGraphicFramePr/>
          <p:nvPr/>
        </p:nvGraphicFramePr>
        <p:xfrm>
          <a:off x="952500" y="1619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{F3F3C26D-C1D2-47E0-B594-9237E272341F}</a:tableStyleId>
              </a:tblPr>
              <a:tblGrid>
                <a:gridCol w="2290375"/>
                <a:gridCol w="49486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Parameter</a:t>
                      </a:r>
                      <a:endParaRPr b="1" sz="1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Meaning</a:t>
                      </a:r>
                      <a:endParaRPr b="1" sz="1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base_estimator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The weak learner (default is Decision Tree Regressor).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n_estimators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Number of weak learners to combine.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learning_rate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Shrinks the contribution of each learner.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loss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Loss function used (e.g., 'linear', 'square', 'exponential').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0"/>
          <p:cNvSpPr txBox="1"/>
          <p:nvPr>
            <p:ph type="title"/>
          </p:nvPr>
        </p:nvSpPr>
        <p:spPr>
          <a:xfrm>
            <a:off x="293525" y="2562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Verdana"/>
                <a:ea typeface="Verdana"/>
                <a:cs typeface="Verdana"/>
                <a:sym typeface="Verdana"/>
              </a:rPr>
              <a:t>ADABOOST VS XGBOOST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3" name="Google Shape;93;p20" title="AdaBoost Vs XGBoos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348" y="1131100"/>
            <a:ext cx="8951000" cy="375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21" title="AdaBoost_Summary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3400" y="152400"/>
            <a:ext cx="8027744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
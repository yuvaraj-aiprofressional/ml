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DB2527-0E68-427E-8E4B-80A872B4F275}">
  <a:tblStyle styleId="{62DB2527-0E68-427E-8E4B-80A872B4F27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Mono-bold.fntdata"/><Relationship Id="rId12" Type="http://schemas.openxmlformats.org/officeDocument/2006/relationships/slide" Target="slides/slide6.xml"/><Relationship Id="rId34" Type="http://schemas.openxmlformats.org/officeDocument/2006/relationships/font" Target="fonts/RobotoMono-regular.fntdata"/><Relationship Id="rId15" Type="http://schemas.openxmlformats.org/officeDocument/2006/relationships/slide" Target="slides/slide9.xml"/><Relationship Id="rId37" Type="http://schemas.openxmlformats.org/officeDocument/2006/relationships/font" Target="fonts/RobotoMono-boldItalic.fntdata"/><Relationship Id="rId14" Type="http://schemas.openxmlformats.org/officeDocument/2006/relationships/slide" Target="slides/slide8.xml"/><Relationship Id="rId36" Type="http://schemas.openxmlformats.org/officeDocument/2006/relationships/font" Target="fonts/RobotoMon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bfa881b8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bfa881b8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bfa881b8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bfa881b8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bfa881b8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bfa881b8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bfa881b8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bfa881b8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bfa881b8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bfa881b8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bfa881b8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bfa881b8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bfa881b8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6bfa881b8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bfa881b8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6bfa881b8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bfa881b8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6bfa881b8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bfa881b8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6bfa881b8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bfa881b8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6bfa881b8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bfa881b8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6bfa881b8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bfa881b8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bfa881b8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6bfa881b8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6bfa881b8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6bfa881b8a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6bfa881b8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bfa881b8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bfa881b8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bfa881b8a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bfa881b8a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bfa881b8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6bfa881b8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bfa881b8a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6bfa881b8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6bfa881b8a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6bfa881b8a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6bfa881b8a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6bfa881b8a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6bfa881b8a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6bfa881b8a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6bfa881b8a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6bfa881b8a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6bfa881b8a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6bfa881b8a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6bfa881b8a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6bfa881b8a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bfa881b8a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6bfa881b8a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296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Verdana"/>
                <a:ea typeface="Verdana"/>
                <a:cs typeface="Verdana"/>
                <a:sym typeface="Verdana"/>
              </a:rPr>
              <a:t>Machine Learning </a:t>
            </a:r>
            <a:r>
              <a:rPr lang="en">
                <a:latin typeface="Verdana"/>
                <a:ea typeface="Verdana"/>
                <a:cs typeface="Verdana"/>
                <a:sym typeface="Verdana"/>
              </a:rPr>
              <a:t>Clustering</a:t>
            </a:r>
            <a:endParaRPr>
              <a:latin typeface="Verdana"/>
              <a:ea typeface="Verdana"/>
              <a:cs typeface="Verdana"/>
              <a:sym typeface="Verdana"/>
            </a:endParaRPr>
          </a:p>
        </p:txBody>
      </p:sp>
      <p:pic>
        <p:nvPicPr>
          <p:cNvPr id="55" name="Google Shape;55;p13" title="Clustering_Explaination.png"/>
          <p:cNvPicPr preferRelativeResize="0"/>
          <p:nvPr/>
        </p:nvPicPr>
        <p:blipFill>
          <a:blip r:embed="rId3">
            <a:alphaModFix/>
          </a:blip>
          <a:stretch>
            <a:fillRect/>
          </a:stretch>
        </p:blipFill>
        <p:spPr>
          <a:xfrm>
            <a:off x="1835425" y="2571750"/>
            <a:ext cx="5715000" cy="1971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Verdana"/>
                <a:ea typeface="Verdana"/>
                <a:cs typeface="Verdana"/>
                <a:sym typeface="Verdana"/>
              </a:rPr>
              <a:t>CLUSTERING ALGORITHMS</a:t>
            </a:r>
            <a:endParaRPr>
              <a:latin typeface="Verdana"/>
              <a:ea typeface="Verdana"/>
              <a:cs typeface="Verdana"/>
              <a:sym typeface="Verdana"/>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1800"/>
              </a:spcBef>
              <a:spcAft>
                <a:spcPts val="0"/>
              </a:spcAft>
              <a:buClr>
                <a:srgbClr val="222832"/>
              </a:buClr>
              <a:buSzPts val="2000"/>
              <a:buFont typeface="Times New Roman"/>
              <a:buAutoNum type="arabicPeriod"/>
            </a:pPr>
            <a:r>
              <a:rPr lang="en" sz="2000">
                <a:solidFill>
                  <a:srgbClr val="222832"/>
                </a:solidFill>
                <a:highlight>
                  <a:srgbClr val="FFFFFF"/>
                </a:highlight>
                <a:latin typeface="Times New Roman"/>
                <a:ea typeface="Times New Roman"/>
                <a:cs typeface="Times New Roman"/>
                <a:sym typeface="Times New Roman"/>
              </a:rPr>
              <a:t>Affinity Propagation</a:t>
            </a:r>
            <a:endParaRPr sz="2000">
              <a:solidFill>
                <a:srgbClr val="222832"/>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rgbClr val="222832"/>
              </a:buClr>
              <a:buSzPts val="2000"/>
              <a:buFont typeface="Times New Roman"/>
              <a:buAutoNum type="arabicPeriod"/>
            </a:pPr>
            <a:r>
              <a:rPr lang="en" sz="2000">
                <a:solidFill>
                  <a:srgbClr val="222832"/>
                </a:solidFill>
                <a:highlight>
                  <a:srgbClr val="FFFFFF"/>
                </a:highlight>
                <a:latin typeface="Times New Roman"/>
                <a:ea typeface="Times New Roman"/>
                <a:cs typeface="Times New Roman"/>
                <a:sym typeface="Times New Roman"/>
              </a:rPr>
              <a:t>Mean Shift</a:t>
            </a:r>
            <a:endParaRPr sz="2000">
              <a:solidFill>
                <a:srgbClr val="222832"/>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rgbClr val="222832"/>
              </a:buClr>
              <a:buSzPts val="2000"/>
              <a:buFont typeface="Times New Roman"/>
              <a:buAutoNum type="arabicPeriod"/>
            </a:pPr>
            <a:r>
              <a:rPr lang="en" sz="2000">
                <a:solidFill>
                  <a:srgbClr val="222832"/>
                </a:solidFill>
                <a:highlight>
                  <a:srgbClr val="FFFFFF"/>
                </a:highlight>
                <a:latin typeface="Times New Roman"/>
                <a:ea typeface="Times New Roman"/>
                <a:cs typeface="Times New Roman"/>
                <a:sym typeface="Times New Roman"/>
              </a:rPr>
              <a:t>Spectral Clustering</a:t>
            </a:r>
            <a:endParaRPr sz="2000">
              <a:solidFill>
                <a:srgbClr val="222832"/>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rgbClr val="222832"/>
              </a:buClr>
              <a:buSzPts val="2000"/>
              <a:buFont typeface="Times New Roman"/>
              <a:buAutoNum type="arabicPeriod"/>
            </a:pPr>
            <a:r>
              <a:rPr lang="en" sz="2000">
                <a:solidFill>
                  <a:srgbClr val="222832"/>
                </a:solidFill>
                <a:highlight>
                  <a:srgbClr val="FFFFFF"/>
                </a:highlight>
                <a:latin typeface="Times New Roman"/>
                <a:ea typeface="Times New Roman"/>
                <a:cs typeface="Times New Roman"/>
                <a:sym typeface="Times New Roman"/>
              </a:rPr>
              <a:t>Dbscan</a:t>
            </a:r>
            <a:endParaRPr sz="2000">
              <a:solidFill>
                <a:srgbClr val="222832"/>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rgbClr val="222832"/>
              </a:buClr>
              <a:buSzPts val="2000"/>
              <a:buFont typeface="Times New Roman"/>
              <a:buAutoNum type="arabicPeriod"/>
            </a:pPr>
            <a:r>
              <a:rPr lang="en" sz="2000">
                <a:solidFill>
                  <a:srgbClr val="222832"/>
                </a:solidFill>
                <a:highlight>
                  <a:srgbClr val="FFFFFF"/>
                </a:highlight>
                <a:latin typeface="Times New Roman"/>
                <a:ea typeface="Times New Roman"/>
                <a:cs typeface="Times New Roman"/>
                <a:sym typeface="Times New Roman"/>
              </a:rPr>
              <a:t>Optics</a:t>
            </a:r>
            <a:endParaRPr sz="2000">
              <a:solidFill>
                <a:srgbClr val="222832"/>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rgbClr val="222832"/>
              </a:buClr>
              <a:buSzPts val="2000"/>
              <a:buFont typeface="Times New Roman"/>
              <a:buAutoNum type="arabicPeriod"/>
            </a:pPr>
            <a:r>
              <a:rPr lang="en" sz="2000">
                <a:solidFill>
                  <a:srgbClr val="222832"/>
                </a:solidFill>
                <a:highlight>
                  <a:srgbClr val="FFFFFF"/>
                </a:highlight>
                <a:latin typeface="Times New Roman"/>
                <a:ea typeface="Times New Roman"/>
                <a:cs typeface="Times New Roman"/>
                <a:sym typeface="Times New Roman"/>
              </a:rPr>
              <a:t>Birch</a:t>
            </a:r>
            <a:endParaRPr sz="2000">
              <a:solidFill>
                <a:srgbClr val="22283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0337"/>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800"/>
              </a:spcBef>
              <a:spcAft>
                <a:spcPts val="400"/>
              </a:spcAft>
              <a:buNone/>
            </a:pPr>
            <a:r>
              <a:rPr lang="en" sz="2000">
                <a:solidFill>
                  <a:srgbClr val="222832"/>
                </a:solidFill>
                <a:highlight>
                  <a:srgbClr val="FFFFFF"/>
                </a:highlight>
                <a:latin typeface="Verdana"/>
                <a:ea typeface="Verdana"/>
                <a:cs typeface="Verdana"/>
                <a:sym typeface="Verdana"/>
              </a:rPr>
              <a:t>AFFINITY PROPAGATION</a:t>
            </a:r>
            <a:endParaRPr>
              <a:latin typeface="Verdana"/>
              <a:ea typeface="Verdana"/>
              <a:cs typeface="Verdana"/>
              <a:sym typeface="Verdana"/>
            </a:endParaRPr>
          </a:p>
        </p:txBody>
      </p:sp>
      <p:sp>
        <p:nvSpPr>
          <p:cNvPr id="67" name="Google Shape;67;p15"/>
          <p:cNvSpPr txBox="1"/>
          <p:nvPr>
            <p:ph idx="1" type="body"/>
          </p:nvPr>
        </p:nvSpPr>
        <p:spPr>
          <a:xfrm>
            <a:off x="311700" y="954800"/>
            <a:ext cx="8787600" cy="412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50">
                <a:solidFill>
                  <a:srgbClr val="001D35"/>
                </a:solidFill>
                <a:highlight>
                  <a:srgbClr val="FFFFFF"/>
                </a:highlight>
                <a:latin typeface="Times New Roman"/>
                <a:ea typeface="Times New Roman"/>
                <a:cs typeface="Times New Roman"/>
                <a:sym typeface="Times New Roman"/>
              </a:rPr>
              <a:t>Affinity Propagation is a clustering algorithm that </a:t>
            </a:r>
            <a:r>
              <a:rPr lang="en" sz="1350">
                <a:solidFill>
                  <a:schemeClr val="dk1"/>
                </a:solidFill>
                <a:latin typeface="Times New Roman"/>
                <a:ea typeface="Times New Roman"/>
                <a:cs typeface="Times New Roman"/>
                <a:sym typeface="Times New Roman"/>
              </a:rPr>
              <a:t>groups data points based on message passing between them, identifying exemplars (cluster centers) and assigning other points to these exemplars.</a:t>
            </a:r>
            <a:endParaRPr sz="135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SzPts val="1100"/>
              <a:buFont typeface="Times New Roman"/>
              <a:buChar char="●"/>
            </a:pPr>
            <a:r>
              <a:rPr b="1" lang="en" sz="1100">
                <a:solidFill>
                  <a:schemeClr val="dk1"/>
                </a:solidFill>
                <a:latin typeface="Times New Roman"/>
                <a:ea typeface="Times New Roman"/>
                <a:cs typeface="Times New Roman"/>
                <a:sym typeface="Times New Roman"/>
              </a:rPr>
              <a:t>Does not require the number of clusters (</a:t>
            </a:r>
            <a:r>
              <a:rPr b="1" lang="en" sz="1100">
                <a:solidFill>
                  <a:srgbClr val="188038"/>
                </a:solidFill>
                <a:latin typeface="Times New Roman"/>
                <a:ea typeface="Times New Roman"/>
                <a:cs typeface="Times New Roman"/>
                <a:sym typeface="Times New Roman"/>
              </a:rPr>
              <a:t>k</a:t>
            </a:r>
            <a:r>
              <a:rPr b="1" lang="en" sz="1100">
                <a:solidFill>
                  <a:schemeClr val="dk1"/>
                </a:solidFill>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 to be specified.</a:t>
            </a: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lang="en" sz="1100">
                <a:solidFill>
                  <a:schemeClr val="dk1"/>
                </a:solidFill>
                <a:latin typeface="Times New Roman"/>
                <a:ea typeface="Times New Roman"/>
                <a:cs typeface="Times New Roman"/>
                <a:sym typeface="Times New Roman"/>
              </a:rPr>
              <a:t>Works by </a:t>
            </a:r>
            <a:r>
              <a:rPr b="1" lang="en" sz="1100">
                <a:solidFill>
                  <a:schemeClr val="dk1"/>
                </a:solidFill>
                <a:latin typeface="Times New Roman"/>
                <a:ea typeface="Times New Roman"/>
                <a:cs typeface="Times New Roman"/>
                <a:sym typeface="Times New Roman"/>
              </a:rPr>
              <a:t>passing messages between data points</a:t>
            </a:r>
            <a:r>
              <a:rPr lang="en" sz="1100">
                <a:solidFill>
                  <a:schemeClr val="dk1"/>
                </a:solidFill>
                <a:latin typeface="Times New Roman"/>
                <a:ea typeface="Times New Roman"/>
                <a:cs typeface="Times New Roman"/>
                <a:sym typeface="Times New Roman"/>
              </a:rPr>
              <a:t> until a set of </a:t>
            </a:r>
            <a:r>
              <a:rPr b="1" lang="en" sz="1100">
                <a:solidFill>
                  <a:schemeClr val="dk1"/>
                </a:solidFill>
                <a:latin typeface="Times New Roman"/>
                <a:ea typeface="Times New Roman"/>
                <a:cs typeface="Times New Roman"/>
                <a:sym typeface="Times New Roman"/>
              </a:rPr>
              <a:t>“exemplar”</a:t>
            </a:r>
            <a:r>
              <a:rPr lang="en" sz="1100">
                <a:solidFill>
                  <a:schemeClr val="dk1"/>
                </a:solidFill>
                <a:latin typeface="Times New Roman"/>
                <a:ea typeface="Times New Roman"/>
                <a:cs typeface="Times New Roman"/>
                <a:sym typeface="Times New Roman"/>
              </a:rPr>
              <a:t> points and clusters emerge.</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350">
              <a:solidFill>
                <a:schemeClr val="dk1"/>
              </a:solidFill>
              <a:latin typeface="Times New Roman"/>
              <a:ea typeface="Times New Roman"/>
              <a:cs typeface="Times New Roman"/>
              <a:sym typeface="Times New Roman"/>
            </a:endParaRPr>
          </a:p>
        </p:txBody>
      </p:sp>
      <p:pic>
        <p:nvPicPr>
          <p:cNvPr id="68" name="Google Shape;68;p15" title="Affinity_Propagation_Works.jpg"/>
          <p:cNvPicPr preferRelativeResize="0"/>
          <p:nvPr/>
        </p:nvPicPr>
        <p:blipFill>
          <a:blip r:embed="rId3">
            <a:alphaModFix/>
          </a:blip>
          <a:stretch>
            <a:fillRect/>
          </a:stretch>
        </p:blipFill>
        <p:spPr>
          <a:xfrm>
            <a:off x="2601460" y="2128721"/>
            <a:ext cx="3543975" cy="2949425"/>
          </a:xfrm>
          <a:prstGeom prst="rect">
            <a:avLst/>
          </a:prstGeom>
          <a:noFill/>
          <a:ln>
            <a:noFill/>
          </a:ln>
        </p:spPr>
      </p:pic>
      <p:sp>
        <p:nvSpPr>
          <p:cNvPr id="69" name="Google Shape;69;p15"/>
          <p:cNvSpPr txBox="1"/>
          <p:nvPr/>
        </p:nvSpPr>
        <p:spPr>
          <a:xfrm>
            <a:off x="3067219" y="361773"/>
            <a:ext cx="3127500" cy="770700"/>
          </a:xfrm>
          <a:prstGeom prst="rect">
            <a:avLst/>
          </a:prstGeom>
          <a:noFill/>
          <a:ln>
            <a:noFill/>
          </a:ln>
          <a:effectLst>
            <a:outerShdw blurRad="57150" rotWithShape="0" algn="bl" dir="5400000" dist="19050">
              <a:srgbClr val="0000FF">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from sklearn.cluster import AffinityPropagation</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aff = AffinityPropagation(random_state=5)</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y_aff=aff.fit_predict(x)</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185875" y="310950"/>
            <a:ext cx="8520600" cy="46989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How It Works:</a:t>
            </a:r>
            <a:endParaRPr b="1" sz="13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AutoNum type="arabicPeriod"/>
            </a:pPr>
            <a:r>
              <a:rPr lang="en" sz="1100">
                <a:solidFill>
                  <a:schemeClr val="dk1"/>
                </a:solidFill>
                <a:latin typeface="Times New Roman"/>
                <a:ea typeface="Times New Roman"/>
                <a:cs typeface="Times New Roman"/>
                <a:sym typeface="Times New Roman"/>
              </a:rPr>
              <a:t>Every data point is </a:t>
            </a:r>
            <a:r>
              <a:rPr b="1" lang="en" sz="1100">
                <a:solidFill>
                  <a:schemeClr val="dk1"/>
                </a:solidFill>
                <a:latin typeface="Times New Roman"/>
                <a:ea typeface="Times New Roman"/>
                <a:cs typeface="Times New Roman"/>
                <a:sym typeface="Times New Roman"/>
              </a:rPr>
              <a:t>considered a potential exemplar</a:t>
            </a:r>
            <a:r>
              <a:rPr lang="en" sz="1100">
                <a:solidFill>
                  <a:schemeClr val="dk1"/>
                </a:solidFill>
                <a:latin typeface="Times New Roman"/>
                <a:ea typeface="Times New Roman"/>
                <a:cs typeface="Times New Roman"/>
                <a:sym typeface="Times New Roman"/>
              </a:rPr>
              <a:t> (cluster center).</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en" sz="1100">
                <a:solidFill>
                  <a:schemeClr val="dk1"/>
                </a:solidFill>
                <a:latin typeface="Times New Roman"/>
                <a:ea typeface="Times New Roman"/>
                <a:cs typeface="Times New Roman"/>
                <a:sym typeface="Times New Roman"/>
              </a:rPr>
              <a:t>Two types of messages are exchanged:</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Responsibility (</a:t>
            </a:r>
            <a:r>
              <a:rPr b="1" lang="en" sz="1100">
                <a:solidFill>
                  <a:srgbClr val="188038"/>
                </a:solidFill>
                <a:latin typeface="Times New Roman"/>
                <a:ea typeface="Times New Roman"/>
                <a:cs typeface="Times New Roman"/>
                <a:sym typeface="Times New Roman"/>
              </a:rPr>
              <a:t>r(i, k)</a:t>
            </a:r>
            <a:r>
              <a:rPr b="1" lang="en" sz="1100">
                <a:solidFill>
                  <a:schemeClr val="dk1"/>
                </a:solidFill>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 How well-suited point </a:t>
            </a:r>
            <a:r>
              <a:rPr lang="en" sz="1100">
                <a:solidFill>
                  <a:srgbClr val="188038"/>
                </a:solidFill>
                <a:latin typeface="Times New Roman"/>
                <a:ea typeface="Times New Roman"/>
                <a:cs typeface="Times New Roman"/>
                <a:sym typeface="Times New Roman"/>
              </a:rPr>
              <a:t>k</a:t>
            </a:r>
            <a:r>
              <a:rPr lang="en" sz="1100">
                <a:solidFill>
                  <a:schemeClr val="dk1"/>
                </a:solidFill>
                <a:latin typeface="Times New Roman"/>
                <a:ea typeface="Times New Roman"/>
                <a:cs typeface="Times New Roman"/>
                <a:sym typeface="Times New Roman"/>
              </a:rPr>
              <a:t> is to be the exemplar for point </a:t>
            </a:r>
            <a:r>
              <a:rPr lang="en" sz="1100">
                <a:solidFill>
                  <a:srgbClr val="188038"/>
                </a:solidFill>
                <a:latin typeface="Times New Roman"/>
                <a:ea typeface="Times New Roman"/>
                <a:cs typeface="Times New Roman"/>
                <a:sym typeface="Times New Roman"/>
              </a:rPr>
              <a:t>i</a:t>
            </a:r>
            <a:r>
              <a:rPr lang="en" sz="1100">
                <a:solidFill>
                  <a:schemeClr val="dk1"/>
                </a:solidFill>
                <a:latin typeface="Times New Roman"/>
                <a:ea typeface="Times New Roman"/>
                <a:cs typeface="Times New Roman"/>
                <a:sym typeface="Times New Roman"/>
              </a:rPr>
              <a:t>.</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Char char="○"/>
            </a:pPr>
            <a:r>
              <a:rPr b="1" lang="en" sz="1100">
                <a:solidFill>
                  <a:schemeClr val="dk1"/>
                </a:solidFill>
                <a:latin typeface="Times New Roman"/>
                <a:ea typeface="Times New Roman"/>
                <a:cs typeface="Times New Roman"/>
                <a:sym typeface="Times New Roman"/>
              </a:rPr>
              <a:t>Availability (</a:t>
            </a:r>
            <a:r>
              <a:rPr b="1" lang="en" sz="1100">
                <a:solidFill>
                  <a:srgbClr val="188038"/>
                </a:solidFill>
                <a:latin typeface="Times New Roman"/>
                <a:ea typeface="Times New Roman"/>
                <a:cs typeface="Times New Roman"/>
                <a:sym typeface="Times New Roman"/>
              </a:rPr>
              <a:t>a(i, k)</a:t>
            </a:r>
            <a:r>
              <a:rPr b="1" lang="en" sz="1100">
                <a:solidFill>
                  <a:schemeClr val="dk1"/>
                </a:solidFill>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 How appropriate it is for point </a:t>
            </a:r>
            <a:r>
              <a:rPr lang="en" sz="1100">
                <a:solidFill>
                  <a:srgbClr val="188038"/>
                </a:solidFill>
                <a:latin typeface="Times New Roman"/>
                <a:ea typeface="Times New Roman"/>
                <a:cs typeface="Times New Roman"/>
                <a:sym typeface="Times New Roman"/>
              </a:rPr>
              <a:t>i</a:t>
            </a:r>
            <a:r>
              <a:rPr lang="en" sz="1100">
                <a:solidFill>
                  <a:schemeClr val="dk1"/>
                </a:solidFill>
                <a:latin typeface="Times New Roman"/>
                <a:ea typeface="Times New Roman"/>
                <a:cs typeface="Times New Roman"/>
                <a:sym typeface="Times New Roman"/>
              </a:rPr>
              <a:t> to choose point </a:t>
            </a:r>
            <a:r>
              <a:rPr lang="en" sz="1100">
                <a:solidFill>
                  <a:srgbClr val="188038"/>
                </a:solidFill>
                <a:latin typeface="Times New Roman"/>
                <a:ea typeface="Times New Roman"/>
                <a:cs typeface="Times New Roman"/>
                <a:sym typeface="Times New Roman"/>
              </a:rPr>
              <a:t>k</a:t>
            </a:r>
            <a:r>
              <a:rPr lang="en" sz="1100">
                <a:solidFill>
                  <a:schemeClr val="dk1"/>
                </a:solidFill>
                <a:latin typeface="Times New Roman"/>
                <a:ea typeface="Times New Roman"/>
                <a:cs typeface="Times New Roman"/>
                <a:sym typeface="Times New Roman"/>
              </a:rPr>
              <a:t> as its exemplar.</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AutoNum type="arabicPeriod"/>
            </a:pPr>
            <a:r>
              <a:rPr lang="en" sz="1100">
                <a:solidFill>
                  <a:schemeClr val="dk1"/>
                </a:solidFill>
                <a:latin typeface="Times New Roman"/>
                <a:ea typeface="Times New Roman"/>
                <a:cs typeface="Times New Roman"/>
                <a:sym typeface="Times New Roman"/>
              </a:rPr>
              <a:t>Iteratively updates </a:t>
            </a:r>
            <a:r>
              <a:rPr lang="en" sz="1100">
                <a:solidFill>
                  <a:srgbClr val="188038"/>
                </a:solidFill>
                <a:latin typeface="Times New Roman"/>
                <a:ea typeface="Times New Roman"/>
                <a:cs typeface="Times New Roman"/>
                <a:sym typeface="Times New Roman"/>
              </a:rPr>
              <a:t>r</a:t>
            </a:r>
            <a:r>
              <a:rPr lang="en" sz="1100">
                <a:solidFill>
                  <a:schemeClr val="dk1"/>
                </a:solidFill>
                <a:latin typeface="Times New Roman"/>
                <a:ea typeface="Times New Roman"/>
                <a:cs typeface="Times New Roman"/>
                <a:sym typeface="Times New Roman"/>
              </a:rPr>
              <a:t> and </a:t>
            </a:r>
            <a:r>
              <a:rPr lang="en" sz="1100">
                <a:solidFill>
                  <a:srgbClr val="188038"/>
                </a:solidFill>
                <a:latin typeface="Times New Roman"/>
                <a:ea typeface="Times New Roman"/>
                <a:cs typeface="Times New Roman"/>
                <a:sym typeface="Times New Roman"/>
              </a:rPr>
              <a:t>a</a:t>
            </a:r>
            <a:r>
              <a:rPr lang="en" sz="1100">
                <a:solidFill>
                  <a:schemeClr val="dk1"/>
                </a:solidFill>
                <a:latin typeface="Times New Roman"/>
                <a:ea typeface="Times New Roman"/>
                <a:cs typeface="Times New Roman"/>
                <a:sym typeface="Times New Roman"/>
              </a:rPr>
              <a:t> until convergence.</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AutoNum type="arabicPeriod"/>
            </a:pPr>
            <a:r>
              <a:rPr lang="en" sz="1100">
                <a:solidFill>
                  <a:schemeClr val="dk1"/>
                </a:solidFill>
                <a:latin typeface="Times New Roman"/>
                <a:ea typeface="Times New Roman"/>
                <a:cs typeface="Times New Roman"/>
                <a:sym typeface="Times New Roman"/>
              </a:rPr>
              <a:t>Final cluster centers are chosen as </a:t>
            </a:r>
            <a:r>
              <a:rPr b="1" lang="en" sz="1100">
                <a:solidFill>
                  <a:schemeClr val="dk1"/>
                </a:solidFill>
                <a:latin typeface="Times New Roman"/>
                <a:ea typeface="Times New Roman"/>
                <a:cs typeface="Times New Roman"/>
                <a:sym typeface="Times New Roman"/>
              </a:rPr>
              <a:t>exemplars</a:t>
            </a:r>
            <a:r>
              <a:rPr lang="en"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rPr b="1" lang="en" sz="1300">
                <a:solidFill>
                  <a:schemeClr val="dk1"/>
                </a:solidFill>
                <a:latin typeface="Times New Roman"/>
                <a:ea typeface="Times New Roman"/>
                <a:cs typeface="Times New Roman"/>
                <a:sym typeface="Times New Roman"/>
              </a:rPr>
              <a:t>Important Parameters:</a:t>
            </a:r>
            <a:endParaRPr b="1" sz="13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Char char="●"/>
            </a:pPr>
            <a:r>
              <a:rPr lang="en" sz="1100">
                <a:solidFill>
                  <a:srgbClr val="188038"/>
                </a:solidFill>
                <a:latin typeface="Times New Roman"/>
                <a:ea typeface="Times New Roman"/>
                <a:cs typeface="Times New Roman"/>
                <a:sym typeface="Times New Roman"/>
              </a:rPr>
              <a:t>preference</a:t>
            </a:r>
            <a:r>
              <a:rPr lang="en" sz="1100">
                <a:solidFill>
                  <a:schemeClr val="dk1"/>
                </a:solidFill>
                <a:latin typeface="Times New Roman"/>
                <a:ea typeface="Times New Roman"/>
                <a:cs typeface="Times New Roman"/>
                <a:sym typeface="Times New Roman"/>
              </a:rPr>
              <a:t>: Controls how many exemplars are selected.</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Higher → more clusters</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Lower → fewer clusters</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lang="en" sz="1100">
                <a:solidFill>
                  <a:srgbClr val="188038"/>
                </a:solidFill>
                <a:latin typeface="Times New Roman"/>
                <a:ea typeface="Times New Roman"/>
                <a:cs typeface="Times New Roman"/>
                <a:sym typeface="Times New Roman"/>
              </a:rPr>
              <a:t>damping</a:t>
            </a:r>
            <a:r>
              <a:rPr lang="en" sz="1100">
                <a:solidFill>
                  <a:schemeClr val="dk1"/>
                </a:solidFill>
                <a:latin typeface="Times New Roman"/>
                <a:ea typeface="Times New Roman"/>
                <a:cs typeface="Times New Roman"/>
                <a:sym typeface="Times New Roman"/>
              </a:rPr>
              <a:t>: Float between 0.5–1 to avoid numerical oscillations</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86500"/>
            <a:ext cx="8520600" cy="4947000"/>
          </a:xfrm>
          <a:prstGeom prst="rect">
            <a:avLst/>
          </a:prstGeom>
        </p:spPr>
        <p:txBody>
          <a:bodyPr anchorCtr="0" anchor="t" bIns="91425" lIns="91425" spcFirstLastPara="1" rIns="91425" wrap="square" tIns="91425">
            <a:normAutofit/>
          </a:bodyPr>
          <a:lstStyle/>
          <a:p>
            <a:pPr indent="0" lvl="0" marL="0" rtl="0" algn="l">
              <a:lnSpc>
                <a:spcPct val="144444"/>
              </a:lnSpc>
              <a:spcBef>
                <a:spcPts val="1500"/>
              </a:spcBef>
              <a:spcAft>
                <a:spcPts val="0"/>
              </a:spcAft>
              <a:buNone/>
            </a:pPr>
            <a:r>
              <a:rPr lang="en" sz="1350">
                <a:solidFill>
                  <a:schemeClr val="dk1"/>
                </a:solidFill>
                <a:highlight>
                  <a:srgbClr val="FFFFFF"/>
                </a:highlight>
                <a:latin typeface="Times New Roman"/>
                <a:ea typeface="Times New Roman"/>
                <a:cs typeface="Times New Roman"/>
                <a:sym typeface="Times New Roman"/>
              </a:rPr>
              <a:t>PROS:</a:t>
            </a:r>
            <a:endParaRPr sz="135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80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Automatic Cluster Number Determination:</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Affinity propagation doesn't require the user to predefine the number of clusters; it identifies the optimal number based on data characteristics.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Handles Varying Cluster Sizes and Densities: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 can effectively cluster data with varying densities and sizes of clusters.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Suitable for Complex Data:</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 can be useful for datasets with complex relationships and non-linear structures where traditional methods might struggle.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Exploratory Data Analysis: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Its ability to automatically determine the number of clusters makes it suitable for exploring datasets where the cluster structure is unknown.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Applications: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 has been successfully applied in areas like image segmentation, gene expression analysis, and customer segmentation.</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 type="body"/>
          </p:nvPr>
        </p:nvSpPr>
        <p:spPr>
          <a:xfrm>
            <a:off x="311700" y="102250"/>
            <a:ext cx="8520600" cy="4954800"/>
          </a:xfrm>
          <a:prstGeom prst="rect">
            <a:avLst/>
          </a:prstGeom>
        </p:spPr>
        <p:txBody>
          <a:bodyPr anchorCtr="0" anchor="t" bIns="91425" lIns="91425" spcFirstLastPara="1" rIns="91425" wrap="square" tIns="91425">
            <a:normAutofit/>
          </a:bodyPr>
          <a:lstStyle/>
          <a:p>
            <a:pPr indent="0" lvl="0" marL="0" rtl="0" algn="l">
              <a:lnSpc>
                <a:spcPct val="144444"/>
              </a:lnSpc>
              <a:spcBef>
                <a:spcPts val="1500"/>
              </a:spcBef>
              <a:spcAft>
                <a:spcPts val="0"/>
              </a:spcAft>
              <a:buClr>
                <a:schemeClr val="dk1"/>
              </a:buClr>
              <a:buSzPts val="1100"/>
              <a:buFont typeface="Arial"/>
              <a:buNone/>
            </a:pPr>
            <a:r>
              <a:rPr lang="en" sz="1350">
                <a:solidFill>
                  <a:srgbClr val="001D35"/>
                </a:solidFill>
                <a:highlight>
                  <a:srgbClr val="FFFFFF"/>
                </a:highlight>
                <a:latin typeface="Times New Roman"/>
                <a:ea typeface="Times New Roman"/>
                <a:cs typeface="Times New Roman"/>
                <a:sym typeface="Times New Roman"/>
              </a:rPr>
              <a:t>CONS:</a:t>
            </a:r>
            <a:endParaRPr sz="1350">
              <a:solidFill>
                <a:srgbClr val="001D35"/>
              </a:solidFill>
              <a:highlight>
                <a:srgbClr val="FFFFFF"/>
              </a:highlight>
              <a:latin typeface="Times New Roman"/>
              <a:ea typeface="Times New Roman"/>
              <a:cs typeface="Times New Roman"/>
              <a:sym typeface="Times New Roman"/>
            </a:endParaRPr>
          </a:p>
          <a:p>
            <a:pPr indent="-304800" lvl="0" marL="457200" marR="63500" rtl="0" algn="l">
              <a:lnSpc>
                <a:spcPct val="137500"/>
              </a:lnSpc>
              <a:spcBef>
                <a:spcPts val="800"/>
              </a:spcBef>
              <a:spcAft>
                <a:spcPts val="0"/>
              </a:spcAft>
              <a:buClr>
                <a:srgbClr val="001D35"/>
              </a:buClr>
              <a:buSzPts val="1200"/>
              <a:buChar char="●"/>
            </a:pPr>
            <a:r>
              <a:rPr b="1" lang="en" sz="1200">
                <a:solidFill>
                  <a:srgbClr val="001D35"/>
                </a:solidFill>
                <a:highlight>
                  <a:srgbClr val="FFFFFF"/>
                </a:highlight>
                <a:latin typeface="Times New Roman"/>
                <a:ea typeface="Times New Roman"/>
                <a:cs typeface="Times New Roman"/>
                <a:sym typeface="Times New Roman"/>
              </a:rPr>
              <a:t>Computational Complexity:</a:t>
            </a:r>
            <a:r>
              <a:rPr lang="en" sz="1200">
                <a:solidFill>
                  <a:srgbClr val="001D35"/>
                </a:solidFill>
                <a:highlight>
                  <a:srgbClr val="FFFFFF"/>
                </a:highlight>
                <a:latin typeface="Times New Roman"/>
                <a:ea typeface="Times New Roman"/>
                <a:cs typeface="Times New Roman"/>
                <a:sym typeface="Times New Roman"/>
              </a:rPr>
              <a:t> Affinity propagation can be computationally expensive and memory-intensive, especially for large datasets, due to its quadratic time and space complexity. </a:t>
            </a:r>
            <a:endParaRPr sz="1200">
              <a:solidFill>
                <a:srgbClr val="001D35"/>
              </a:solidFill>
              <a:highlight>
                <a:srgbClr val="FFFFFF"/>
              </a:highlight>
              <a:latin typeface="Times New Roman"/>
              <a:ea typeface="Times New Roman"/>
              <a:cs typeface="Times New Roman"/>
              <a:sym typeface="Times New Roman"/>
            </a:endParaRPr>
          </a:p>
          <a:p>
            <a:pPr indent="-304800" lvl="0" marL="457200" marR="63500" rtl="0" algn="l">
              <a:lnSpc>
                <a:spcPct val="137500"/>
              </a:lnSpc>
              <a:spcBef>
                <a:spcPts val="0"/>
              </a:spcBef>
              <a:spcAft>
                <a:spcPts val="0"/>
              </a:spcAft>
              <a:buClr>
                <a:srgbClr val="001D35"/>
              </a:buClr>
              <a:buSzPts val="1200"/>
              <a:buChar char="●"/>
            </a:pPr>
            <a:r>
              <a:rPr b="1" lang="en" sz="1200">
                <a:solidFill>
                  <a:srgbClr val="001D35"/>
                </a:solidFill>
                <a:highlight>
                  <a:srgbClr val="FFFFFF"/>
                </a:highlight>
                <a:latin typeface="Times New Roman"/>
                <a:ea typeface="Times New Roman"/>
                <a:cs typeface="Times New Roman"/>
                <a:sym typeface="Times New Roman"/>
              </a:rPr>
              <a:t>Sensitivity to Similarity Metric:</a:t>
            </a:r>
            <a:r>
              <a:rPr lang="en" sz="1200">
                <a:solidFill>
                  <a:srgbClr val="001D35"/>
                </a:solidFill>
                <a:highlight>
                  <a:srgbClr val="FFFFFF"/>
                </a:highlight>
                <a:latin typeface="Times New Roman"/>
                <a:ea typeface="Times New Roman"/>
                <a:cs typeface="Times New Roman"/>
                <a:sym typeface="Times New Roman"/>
              </a:rPr>
              <a:t> The choice of similarity metric can significantly impact the clustering results. </a:t>
            </a:r>
            <a:endParaRPr sz="1200">
              <a:solidFill>
                <a:srgbClr val="001D35"/>
              </a:solidFill>
              <a:highlight>
                <a:srgbClr val="FFFFFF"/>
              </a:highlight>
              <a:latin typeface="Times New Roman"/>
              <a:ea typeface="Times New Roman"/>
              <a:cs typeface="Times New Roman"/>
              <a:sym typeface="Times New Roman"/>
            </a:endParaRPr>
          </a:p>
          <a:p>
            <a:pPr indent="-304800" lvl="0" marL="457200" marR="63500" rtl="0" algn="l">
              <a:lnSpc>
                <a:spcPct val="137500"/>
              </a:lnSpc>
              <a:spcBef>
                <a:spcPts val="0"/>
              </a:spcBef>
              <a:spcAft>
                <a:spcPts val="0"/>
              </a:spcAft>
              <a:buClr>
                <a:srgbClr val="001D35"/>
              </a:buClr>
              <a:buSzPts val="1200"/>
              <a:buChar char="●"/>
            </a:pPr>
            <a:r>
              <a:rPr b="1" lang="en" sz="1200">
                <a:solidFill>
                  <a:srgbClr val="001D35"/>
                </a:solidFill>
                <a:highlight>
                  <a:srgbClr val="FFFFFF"/>
                </a:highlight>
                <a:latin typeface="Times New Roman"/>
                <a:ea typeface="Times New Roman"/>
                <a:cs typeface="Times New Roman"/>
                <a:sym typeface="Times New Roman"/>
              </a:rPr>
              <a:t>Interpretation Challenges:</a:t>
            </a:r>
            <a:r>
              <a:rPr lang="en" sz="1200">
                <a:solidFill>
                  <a:srgbClr val="001D35"/>
                </a:solidFill>
                <a:highlight>
                  <a:srgbClr val="FFFFFF"/>
                </a:highlight>
                <a:latin typeface="Times New Roman"/>
                <a:ea typeface="Times New Roman"/>
                <a:cs typeface="Times New Roman"/>
                <a:sym typeface="Times New Roman"/>
              </a:rPr>
              <a:t> It can sometimes produce multiple exemplars for a single cluster, which can make the results harder to interpret. </a:t>
            </a:r>
            <a:endParaRPr sz="1200">
              <a:solidFill>
                <a:srgbClr val="001D35"/>
              </a:solidFill>
              <a:highlight>
                <a:srgbClr val="FFFFFF"/>
              </a:highlight>
              <a:latin typeface="Times New Roman"/>
              <a:ea typeface="Times New Roman"/>
              <a:cs typeface="Times New Roman"/>
              <a:sym typeface="Times New Roman"/>
            </a:endParaRPr>
          </a:p>
          <a:p>
            <a:pPr indent="-304800" lvl="0" marL="457200" marR="63500" rtl="0" algn="l">
              <a:lnSpc>
                <a:spcPct val="137500"/>
              </a:lnSpc>
              <a:spcBef>
                <a:spcPts val="0"/>
              </a:spcBef>
              <a:spcAft>
                <a:spcPts val="0"/>
              </a:spcAft>
              <a:buClr>
                <a:srgbClr val="001D35"/>
              </a:buClr>
              <a:buSzPts val="1200"/>
              <a:buChar char="●"/>
            </a:pPr>
            <a:r>
              <a:rPr b="1" lang="en" sz="1200">
                <a:solidFill>
                  <a:srgbClr val="001D35"/>
                </a:solidFill>
                <a:highlight>
                  <a:srgbClr val="FFFFFF"/>
                </a:highlight>
                <a:latin typeface="Times New Roman"/>
                <a:ea typeface="Times New Roman"/>
                <a:cs typeface="Times New Roman"/>
                <a:sym typeface="Times New Roman"/>
              </a:rPr>
              <a:t>Not Ideal for Large Datasets:</a:t>
            </a:r>
            <a:r>
              <a:rPr lang="en" sz="1200">
                <a:solidFill>
                  <a:srgbClr val="001D35"/>
                </a:solidFill>
                <a:highlight>
                  <a:srgbClr val="FFFFFF"/>
                </a:highlight>
                <a:latin typeface="Times New Roman"/>
                <a:ea typeface="Times New Roman"/>
                <a:cs typeface="Times New Roman"/>
                <a:sym typeface="Times New Roman"/>
              </a:rPr>
              <a:t> The computational burden makes it less suitable for very large datasets. </a:t>
            </a:r>
            <a:endParaRPr sz="1200">
              <a:solidFill>
                <a:srgbClr val="001D35"/>
              </a:solidFill>
              <a:highlight>
                <a:srgbClr val="FFFFFF"/>
              </a:highlight>
              <a:latin typeface="Times New Roman"/>
              <a:ea typeface="Times New Roman"/>
              <a:cs typeface="Times New Roman"/>
              <a:sym typeface="Times New Roman"/>
            </a:endParaRPr>
          </a:p>
          <a:p>
            <a:pPr indent="-304800" lvl="0" marL="457200" rtl="0" algn="l">
              <a:lnSpc>
                <a:spcPct val="137500"/>
              </a:lnSpc>
              <a:spcBef>
                <a:spcPts val="0"/>
              </a:spcBef>
              <a:spcAft>
                <a:spcPts val="0"/>
              </a:spcAft>
              <a:buClr>
                <a:srgbClr val="001D35"/>
              </a:buClr>
              <a:buSzPts val="1200"/>
              <a:buChar char="●"/>
            </a:pPr>
            <a:r>
              <a:rPr b="1" lang="en" sz="1200">
                <a:solidFill>
                  <a:srgbClr val="001D35"/>
                </a:solidFill>
                <a:highlight>
                  <a:srgbClr val="FFFFFF"/>
                </a:highlight>
                <a:latin typeface="Times New Roman"/>
                <a:ea typeface="Times New Roman"/>
                <a:cs typeface="Times New Roman"/>
                <a:sym typeface="Times New Roman"/>
              </a:rPr>
              <a:t>Potential for Small Clusters:</a:t>
            </a:r>
            <a:r>
              <a:rPr lang="en" sz="1200">
                <a:solidFill>
                  <a:srgbClr val="001D35"/>
                </a:solidFill>
                <a:highlight>
                  <a:srgbClr val="FFFFFF"/>
                </a:highlight>
                <a:latin typeface="Times New Roman"/>
                <a:ea typeface="Times New Roman"/>
                <a:cs typeface="Times New Roman"/>
                <a:sym typeface="Times New Roman"/>
              </a:rPr>
              <a:t> In some cases, it might produce a large number of small clusters. </a:t>
            </a:r>
            <a:endParaRPr sz="1200">
              <a:solidFill>
                <a:srgbClr val="001D35"/>
              </a:solidFill>
              <a:highlight>
                <a:srgbClr val="FFFFFF"/>
              </a:highlight>
              <a:latin typeface="Times New Roman"/>
              <a:ea typeface="Times New Roman"/>
              <a:cs typeface="Times New Roman"/>
              <a:sym typeface="Times New Roman"/>
            </a:endParaRPr>
          </a:p>
          <a:p>
            <a:pPr indent="0" lvl="0" marL="0" rtl="0" algn="l">
              <a:lnSpc>
                <a:spcPct val="137500"/>
              </a:lnSpc>
              <a:spcBef>
                <a:spcPts val="1500"/>
              </a:spcBef>
              <a:spcAft>
                <a:spcPts val="0"/>
              </a:spcAft>
              <a:buNone/>
            </a:pPr>
            <a:r>
              <a:t/>
            </a:r>
            <a:endParaRPr b="1" sz="1300">
              <a:solidFill>
                <a:srgbClr val="001D35"/>
              </a:solidFill>
              <a:highlight>
                <a:srgbClr val="FFFFFF"/>
              </a:highlight>
              <a:latin typeface="Times New Roman"/>
              <a:ea typeface="Times New Roman"/>
              <a:cs typeface="Times New Roman"/>
              <a:sym typeface="Times New Roman"/>
            </a:endParaRPr>
          </a:p>
          <a:p>
            <a:pPr indent="0" lvl="0" marL="0" rtl="0" algn="l">
              <a:spcBef>
                <a:spcPts val="1500"/>
              </a:spcBef>
              <a:spcAft>
                <a:spcPts val="1200"/>
              </a:spcAft>
              <a:buNone/>
            </a:pPr>
            <a:r>
              <a:t/>
            </a:r>
            <a:endParaRPr/>
          </a:p>
        </p:txBody>
      </p:sp>
      <p:pic>
        <p:nvPicPr>
          <p:cNvPr id="85" name="Google Shape;85;p18" title="Affinity_Propagation_Application.png"/>
          <p:cNvPicPr preferRelativeResize="0"/>
          <p:nvPr/>
        </p:nvPicPr>
        <p:blipFill>
          <a:blip r:embed="rId3">
            <a:alphaModFix/>
          </a:blip>
          <a:stretch>
            <a:fillRect/>
          </a:stretch>
        </p:blipFill>
        <p:spPr>
          <a:xfrm>
            <a:off x="1848200" y="2411850"/>
            <a:ext cx="5447598" cy="2527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989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MEAN SHIFT</a:t>
            </a:r>
            <a:endParaRPr/>
          </a:p>
        </p:txBody>
      </p:sp>
      <p:sp>
        <p:nvSpPr>
          <p:cNvPr id="91" name="Google Shape;91;p19"/>
          <p:cNvSpPr txBox="1"/>
          <p:nvPr>
            <p:ph idx="1" type="body"/>
          </p:nvPr>
        </p:nvSpPr>
        <p:spPr>
          <a:xfrm>
            <a:off x="311700" y="1576100"/>
            <a:ext cx="8520600" cy="348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rPr>
              <a:t>Mean Shift</a:t>
            </a:r>
            <a:r>
              <a:rPr lang="en" sz="1100">
                <a:solidFill>
                  <a:schemeClr val="dk1"/>
                </a:solidFill>
              </a:rPr>
              <a:t> is a </a:t>
            </a:r>
            <a:r>
              <a:rPr b="1" lang="en" sz="1100">
                <a:solidFill>
                  <a:schemeClr val="dk1"/>
                </a:solidFill>
              </a:rPr>
              <a:t>centroid-based</a:t>
            </a:r>
            <a:r>
              <a:rPr lang="en" sz="1100">
                <a:solidFill>
                  <a:schemeClr val="dk1"/>
                </a:solidFill>
              </a:rPr>
              <a:t> clustering algorithm that </a:t>
            </a:r>
            <a:r>
              <a:rPr b="1" lang="en" sz="1100">
                <a:solidFill>
                  <a:schemeClr val="dk1"/>
                </a:solidFill>
              </a:rPr>
              <a:t>does not require you to specify the number of clusters</a:t>
            </a:r>
            <a:r>
              <a:rPr lang="en" sz="1100">
                <a:solidFill>
                  <a:schemeClr val="dk1"/>
                </a:solidFill>
              </a:rPr>
              <a:t>. It works by shifting data points toward the </a:t>
            </a:r>
            <a:r>
              <a:rPr b="1" lang="en" sz="1100">
                <a:solidFill>
                  <a:schemeClr val="dk1"/>
                </a:solidFill>
              </a:rPr>
              <a:t>highest density of points</a:t>
            </a:r>
            <a:r>
              <a:rPr lang="en" sz="1100">
                <a:solidFill>
                  <a:schemeClr val="dk1"/>
                </a:solidFill>
              </a:rPr>
              <a:t> (the mode) iteratively, which is why it's called "mean shift".</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 sz="1300">
                <a:solidFill>
                  <a:schemeClr val="dk1"/>
                </a:solidFill>
              </a:rPr>
              <a:t>How It Works:</a:t>
            </a:r>
            <a:endParaRPr b="1" sz="1300">
              <a:solidFill>
                <a:schemeClr val="dk1"/>
              </a:solidFill>
            </a:endParaRPr>
          </a:p>
          <a:p>
            <a:pPr indent="-298450" lvl="0" marL="457200" rtl="0" algn="l">
              <a:spcBef>
                <a:spcPts val="1200"/>
              </a:spcBef>
              <a:spcAft>
                <a:spcPts val="0"/>
              </a:spcAft>
              <a:buClr>
                <a:schemeClr val="dk1"/>
              </a:buClr>
              <a:buSzPts val="1100"/>
              <a:buAutoNum type="arabicPeriod"/>
            </a:pPr>
            <a:r>
              <a:rPr b="1" lang="en" sz="1100">
                <a:solidFill>
                  <a:schemeClr val="dk1"/>
                </a:solidFill>
              </a:rPr>
              <a:t>Initialize a kernel</a:t>
            </a:r>
            <a:r>
              <a:rPr lang="en" sz="1100">
                <a:solidFill>
                  <a:schemeClr val="dk1"/>
                </a:solidFill>
              </a:rPr>
              <a:t> (usually a Gaussian) around each data point.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Compute the mean</a:t>
            </a:r>
            <a:r>
              <a:rPr lang="en" sz="1100">
                <a:solidFill>
                  <a:schemeClr val="dk1"/>
                </a:solidFill>
              </a:rPr>
              <a:t> of data points within the kernel (neighborhood).</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Shift the center</a:t>
            </a:r>
            <a:r>
              <a:rPr lang="en" sz="1100">
                <a:solidFill>
                  <a:schemeClr val="dk1"/>
                </a:solidFill>
              </a:rPr>
              <a:t> to the mean.</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Repeat until convergence (no significant movement).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Points that converge to the same location form a cluster.</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
        <p:nvSpPr>
          <p:cNvPr id="92" name="Google Shape;92;p19"/>
          <p:cNvSpPr txBox="1"/>
          <p:nvPr/>
        </p:nvSpPr>
        <p:spPr>
          <a:xfrm>
            <a:off x="3392650" y="671675"/>
            <a:ext cx="4239000" cy="739200"/>
          </a:xfrm>
          <a:prstGeom prst="rect">
            <a:avLst/>
          </a:prstGeom>
          <a:noFill/>
          <a:ln>
            <a:noFill/>
          </a:ln>
          <a:effectLst>
            <a:outerShdw blurRad="57150" rotWithShape="0" algn="bl" dir="5400000" dist="19050">
              <a:srgbClr val="0000FF">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from sklearn.cluster import MeanShift</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MS = MeanShift(bandwidth=2).fit(x)</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y_MS = MS.fit_predict(x)</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idx="1" type="body"/>
          </p:nvPr>
        </p:nvSpPr>
        <p:spPr>
          <a:xfrm>
            <a:off x="185875" y="137925"/>
            <a:ext cx="8520600" cy="4872000"/>
          </a:xfrm>
          <a:prstGeom prst="rect">
            <a:avLst/>
          </a:prstGeom>
        </p:spPr>
        <p:txBody>
          <a:bodyPr anchorCtr="0" anchor="t" bIns="91425" lIns="91425" spcFirstLastPara="1" rIns="91425" wrap="square" tIns="91425">
            <a:normAutofit/>
          </a:bodyPr>
          <a:lstStyle/>
          <a:p>
            <a:pPr indent="0" lvl="0" marL="0" rtl="0" algn="l">
              <a:lnSpc>
                <a:spcPct val="144444"/>
              </a:lnSpc>
              <a:spcBef>
                <a:spcPts val="1500"/>
              </a:spcBef>
              <a:spcAft>
                <a:spcPts val="0"/>
              </a:spcAft>
              <a:buClr>
                <a:schemeClr val="dk1"/>
              </a:buClr>
              <a:buSzPts val="1100"/>
              <a:buFont typeface="Arial"/>
              <a:buNone/>
            </a:pPr>
            <a:r>
              <a:rPr lang="en" sz="1350">
                <a:solidFill>
                  <a:schemeClr val="dk1"/>
                </a:solidFill>
                <a:highlight>
                  <a:srgbClr val="FFFFFF"/>
                </a:highlight>
                <a:latin typeface="Times New Roman"/>
                <a:ea typeface="Times New Roman"/>
                <a:cs typeface="Times New Roman"/>
                <a:sym typeface="Times New Roman"/>
              </a:rPr>
              <a:t>PROS:</a:t>
            </a:r>
            <a:endParaRPr sz="135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80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Automatic Cluster Number Determination:</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Unlike K-Means, Mean Shift doesn't require specifying the number of clusters beforehand. It automatically identifies the number of clusters based on the data density.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Robust to Outliers: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Mean Shift is relatively robust to outliers as they tend to get pushed away from denser clusters during the iterative process.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Handles Variable Cluster Shapes: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Mean Shift can identify clusters of various shapes and sizes, unlike algorithms that assume spherical clusters.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No Need for Prior Shape Assumptions: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 doesn't assume any specific shape for clusters (e.g., spherical, elliptical) and adapts to the data's natural distribution.</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Simple to Implement:</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The core logic of Mean Shift is relatively straightforward, making it easy to understand and implement.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idx="1" type="body"/>
          </p:nvPr>
        </p:nvSpPr>
        <p:spPr>
          <a:xfrm>
            <a:off x="311700" y="39325"/>
            <a:ext cx="8779800" cy="5033400"/>
          </a:xfrm>
          <a:prstGeom prst="rect">
            <a:avLst/>
          </a:prstGeom>
        </p:spPr>
        <p:txBody>
          <a:bodyPr anchorCtr="0" anchor="t" bIns="91425" lIns="91425" spcFirstLastPara="1" rIns="91425" wrap="square" tIns="91425">
            <a:normAutofit/>
          </a:bodyPr>
          <a:lstStyle/>
          <a:p>
            <a:pPr indent="0" lvl="0" marL="0" rtl="0" algn="l">
              <a:lnSpc>
                <a:spcPct val="144444"/>
              </a:lnSpc>
              <a:spcBef>
                <a:spcPts val="1500"/>
              </a:spcBef>
              <a:spcAft>
                <a:spcPts val="0"/>
              </a:spcAft>
              <a:buClr>
                <a:schemeClr val="dk1"/>
              </a:buClr>
              <a:buSzPts val="1100"/>
              <a:buFont typeface="Arial"/>
              <a:buNone/>
            </a:pPr>
            <a:r>
              <a:rPr lang="en" sz="1350">
                <a:solidFill>
                  <a:schemeClr val="dk1"/>
                </a:solidFill>
                <a:highlight>
                  <a:srgbClr val="FFFFFF"/>
                </a:highlight>
                <a:latin typeface="Times New Roman"/>
                <a:ea typeface="Times New Roman"/>
                <a:cs typeface="Times New Roman"/>
                <a:sym typeface="Times New Roman"/>
              </a:rPr>
              <a:t>CONS:</a:t>
            </a:r>
            <a:endParaRPr sz="135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80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Computational Complexity:</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Mean Shift can be computationally expensive, especially for large datasets, due to the iterative nature of the algorithm and the need for nearest neighbor searches.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Bandwidth Sensitivity:</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The bandwidth parameter (radius of the neighborhood) significantly impacts the clustering results. Selecting an appropriate bandwidth can be challenging and crucial for good performance.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Scalability Issues: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Mean Shift doesn't scale well to high-dimensional data or very large datasets due to its computational complexity.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Dependence on Initialization:</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While each point starts as a cluster, the final cluster assignments can still be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Font typeface="Times New Roman"/>
              <a:buNone/>
            </a:pPr>
            <a:r>
              <a:rPr lang="en" sz="1200">
                <a:solidFill>
                  <a:schemeClr val="dk1"/>
                </a:solidFill>
                <a:highlight>
                  <a:srgbClr val="FFFFFF"/>
                </a:highlight>
                <a:latin typeface="Times New Roman"/>
                <a:ea typeface="Times New Roman"/>
                <a:cs typeface="Times New Roman"/>
                <a:sym typeface="Times New Roman"/>
              </a:rPr>
              <a:t>influenced by the initial data distribution and the bandwidth.</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Potential for Merging Clusters: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If the bandwidth is too large, Mean Shift might merge distinct clusters into a single,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Font typeface="Times New Roman"/>
              <a:buNone/>
            </a:pPr>
            <a:r>
              <a:rPr lang="en" sz="1200">
                <a:solidFill>
                  <a:schemeClr val="dk1"/>
                </a:solidFill>
                <a:highlight>
                  <a:srgbClr val="FFFFFF"/>
                </a:highlight>
                <a:latin typeface="Times New Roman"/>
                <a:ea typeface="Times New Roman"/>
                <a:cs typeface="Times New Roman"/>
                <a:sym typeface="Times New Roman"/>
              </a:rPr>
              <a:t>larger cluster.</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a:solidFill>
                <a:schemeClr val="dk1"/>
              </a:solidFill>
              <a:latin typeface="Times New Roman"/>
              <a:ea typeface="Times New Roman"/>
              <a:cs typeface="Times New Roman"/>
              <a:sym typeface="Times New Roman"/>
            </a:endParaRPr>
          </a:p>
        </p:txBody>
      </p:sp>
      <p:pic>
        <p:nvPicPr>
          <p:cNvPr id="103" name="Google Shape;103;p21" title="Mean Shift Applications.jpg"/>
          <p:cNvPicPr preferRelativeResize="0"/>
          <p:nvPr/>
        </p:nvPicPr>
        <p:blipFill>
          <a:blip r:embed="rId3">
            <a:alphaModFix/>
          </a:blip>
          <a:stretch>
            <a:fillRect/>
          </a:stretch>
        </p:blipFill>
        <p:spPr>
          <a:xfrm>
            <a:off x="5720125" y="2689725"/>
            <a:ext cx="3177426" cy="2383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67525"/>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1200"/>
              </a:spcAft>
              <a:buClr>
                <a:schemeClr val="dk1"/>
              </a:buClr>
              <a:buSzPts val="1100"/>
              <a:buFont typeface="Arial"/>
              <a:buNone/>
            </a:pPr>
            <a:r>
              <a:rPr b="1" lang="en" sz="2000">
                <a:latin typeface="Verdana"/>
                <a:ea typeface="Verdana"/>
                <a:cs typeface="Verdana"/>
                <a:sym typeface="Verdana"/>
              </a:rPr>
              <a:t>SPECTRAL CLUSTERING</a:t>
            </a:r>
            <a:endParaRPr sz="2000">
              <a:latin typeface="Verdana"/>
              <a:ea typeface="Verdana"/>
              <a:cs typeface="Verdana"/>
              <a:sym typeface="Verdana"/>
            </a:endParaRPr>
          </a:p>
        </p:txBody>
      </p:sp>
      <p:sp>
        <p:nvSpPr>
          <p:cNvPr id="109" name="Google Shape;109;p22"/>
          <p:cNvSpPr txBox="1"/>
          <p:nvPr>
            <p:ph idx="1" type="body"/>
          </p:nvPr>
        </p:nvSpPr>
        <p:spPr>
          <a:xfrm>
            <a:off x="311700" y="1207528"/>
            <a:ext cx="8520600" cy="386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latin typeface="Times New Roman"/>
                <a:ea typeface="Times New Roman"/>
                <a:cs typeface="Times New Roman"/>
                <a:sym typeface="Times New Roman"/>
              </a:rPr>
              <a:t>Spectral Clustering</a:t>
            </a:r>
            <a:r>
              <a:rPr lang="en" sz="1100">
                <a:solidFill>
                  <a:schemeClr val="dk1"/>
                </a:solidFill>
                <a:latin typeface="Times New Roman"/>
                <a:ea typeface="Times New Roman"/>
                <a:cs typeface="Times New Roman"/>
                <a:sym typeface="Times New Roman"/>
              </a:rPr>
              <a:t> is a powerful algorithm that uses concepts from </a:t>
            </a:r>
            <a:r>
              <a:rPr b="1" lang="en" sz="1100">
                <a:solidFill>
                  <a:schemeClr val="dk1"/>
                </a:solidFill>
                <a:latin typeface="Times New Roman"/>
                <a:ea typeface="Times New Roman"/>
                <a:cs typeface="Times New Roman"/>
                <a:sym typeface="Times New Roman"/>
              </a:rPr>
              <a:t>graph theory and linear algebra</a:t>
            </a:r>
            <a:r>
              <a:rPr lang="en" sz="1100">
                <a:solidFill>
                  <a:schemeClr val="dk1"/>
                </a:solidFill>
                <a:latin typeface="Times New Roman"/>
                <a:ea typeface="Times New Roman"/>
                <a:cs typeface="Times New Roman"/>
                <a:sym typeface="Times New Roman"/>
              </a:rPr>
              <a:t>. It's especially useful for finding </a:t>
            </a:r>
            <a:r>
              <a:rPr b="1" lang="en" sz="1100">
                <a:solidFill>
                  <a:schemeClr val="dk1"/>
                </a:solidFill>
                <a:latin typeface="Times New Roman"/>
                <a:ea typeface="Times New Roman"/>
                <a:cs typeface="Times New Roman"/>
                <a:sym typeface="Times New Roman"/>
              </a:rPr>
              <a:t>non-convex clusters</a:t>
            </a:r>
            <a:r>
              <a:rPr lang="en" sz="1100">
                <a:solidFill>
                  <a:schemeClr val="dk1"/>
                </a:solidFill>
                <a:latin typeface="Times New Roman"/>
                <a:ea typeface="Times New Roman"/>
                <a:cs typeface="Times New Roman"/>
                <a:sym typeface="Times New Roman"/>
              </a:rPr>
              <a:t> and </a:t>
            </a:r>
            <a:r>
              <a:rPr b="1" lang="en" sz="1100">
                <a:solidFill>
                  <a:schemeClr val="dk1"/>
                </a:solidFill>
                <a:latin typeface="Times New Roman"/>
                <a:ea typeface="Times New Roman"/>
                <a:cs typeface="Times New Roman"/>
                <a:sym typeface="Times New Roman"/>
              </a:rPr>
              <a:t>complex shapes</a:t>
            </a:r>
            <a:r>
              <a:rPr lang="en" sz="1100">
                <a:solidFill>
                  <a:schemeClr val="dk1"/>
                </a:solidFill>
                <a:latin typeface="Times New Roman"/>
                <a:ea typeface="Times New Roman"/>
                <a:cs typeface="Times New Roman"/>
                <a:sym typeface="Times New Roman"/>
              </a:rPr>
              <a:t> that algorithms like K-Means can't handle.</a:t>
            </a:r>
            <a:endParaRPr sz="11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How It Works:</a:t>
            </a:r>
            <a:endParaRPr b="1" sz="13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AutoNum type="arabicPeriod"/>
            </a:pPr>
            <a:r>
              <a:rPr b="1" lang="en" sz="1100">
                <a:solidFill>
                  <a:schemeClr val="dk1"/>
                </a:solidFill>
                <a:latin typeface="Times New Roman"/>
                <a:ea typeface="Times New Roman"/>
                <a:cs typeface="Times New Roman"/>
                <a:sym typeface="Times New Roman"/>
              </a:rPr>
              <a:t>Construct a similarity graph</a:t>
            </a:r>
            <a:r>
              <a:rPr lang="en" sz="1100">
                <a:solidFill>
                  <a:schemeClr val="dk1"/>
                </a:solidFill>
                <a:latin typeface="Times New Roman"/>
                <a:ea typeface="Times New Roman"/>
                <a:cs typeface="Times New Roman"/>
                <a:sym typeface="Times New Roman"/>
              </a:rPr>
              <a:t>: Represent data points as nodes; edges reflect similarity (e.g., using a Gaussian kernel).</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AutoNum type="arabicPeriod"/>
            </a:pPr>
            <a:r>
              <a:rPr b="1" lang="en" sz="1100">
                <a:solidFill>
                  <a:schemeClr val="dk1"/>
                </a:solidFill>
                <a:latin typeface="Times New Roman"/>
                <a:ea typeface="Times New Roman"/>
                <a:cs typeface="Times New Roman"/>
                <a:sym typeface="Times New Roman"/>
              </a:rPr>
              <a:t>Create the Laplacian matrix</a:t>
            </a:r>
            <a:r>
              <a:rPr lang="en" sz="1100">
                <a:solidFill>
                  <a:schemeClr val="dk1"/>
                </a:solidFill>
                <a:latin typeface="Times New Roman"/>
                <a:ea typeface="Times New Roman"/>
                <a:cs typeface="Times New Roman"/>
                <a:sym typeface="Times New Roman"/>
              </a:rPr>
              <a:t> from this graph.</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AutoNum type="arabicPeriod"/>
            </a:pPr>
            <a:r>
              <a:rPr b="1" lang="en" sz="1100">
                <a:solidFill>
                  <a:schemeClr val="dk1"/>
                </a:solidFill>
                <a:latin typeface="Times New Roman"/>
                <a:ea typeface="Times New Roman"/>
                <a:cs typeface="Times New Roman"/>
                <a:sym typeface="Times New Roman"/>
              </a:rPr>
              <a:t>Compute the eigenvalues/eigenvectors</a:t>
            </a:r>
            <a:r>
              <a:rPr lang="en" sz="1100">
                <a:solidFill>
                  <a:schemeClr val="dk1"/>
                </a:solidFill>
                <a:latin typeface="Times New Roman"/>
                <a:ea typeface="Times New Roman"/>
                <a:cs typeface="Times New Roman"/>
                <a:sym typeface="Times New Roman"/>
              </a:rPr>
              <a:t> of the Laplacian.</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AutoNum type="arabicPeriod"/>
            </a:pPr>
            <a:r>
              <a:rPr b="1" lang="en" sz="1100">
                <a:solidFill>
                  <a:schemeClr val="dk1"/>
                </a:solidFill>
                <a:latin typeface="Times New Roman"/>
                <a:ea typeface="Times New Roman"/>
                <a:cs typeface="Times New Roman"/>
                <a:sym typeface="Times New Roman"/>
              </a:rPr>
              <a:t>Use these eigenvectors</a:t>
            </a:r>
            <a:r>
              <a:rPr lang="en" sz="1100">
                <a:solidFill>
                  <a:schemeClr val="dk1"/>
                </a:solidFill>
                <a:latin typeface="Times New Roman"/>
                <a:ea typeface="Times New Roman"/>
                <a:cs typeface="Times New Roman"/>
                <a:sym typeface="Times New Roman"/>
              </a:rPr>
              <a:t> to reduce the data dimensionality.</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AutoNum type="arabicPeriod"/>
            </a:pPr>
            <a:r>
              <a:rPr b="1" lang="en" sz="1100">
                <a:solidFill>
                  <a:schemeClr val="dk1"/>
                </a:solidFill>
                <a:latin typeface="Times New Roman"/>
                <a:ea typeface="Times New Roman"/>
                <a:cs typeface="Times New Roman"/>
                <a:sym typeface="Times New Roman"/>
              </a:rPr>
              <a:t>Apply K-Means</a:t>
            </a:r>
            <a:r>
              <a:rPr lang="en" sz="1100">
                <a:solidFill>
                  <a:schemeClr val="dk1"/>
                </a:solidFill>
                <a:latin typeface="Times New Roman"/>
                <a:ea typeface="Times New Roman"/>
                <a:cs typeface="Times New Roman"/>
                <a:sym typeface="Times New Roman"/>
              </a:rPr>
              <a:t> on this reduced representation to form clusters.</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100">
              <a:solidFill>
                <a:schemeClr val="dk1"/>
              </a:solidFill>
              <a:latin typeface="Times New Roman"/>
              <a:ea typeface="Times New Roman"/>
              <a:cs typeface="Times New Roman"/>
              <a:sym typeface="Times New Roman"/>
            </a:endParaRPr>
          </a:p>
        </p:txBody>
      </p:sp>
      <p:pic>
        <p:nvPicPr>
          <p:cNvPr id="110" name="Google Shape;110;p22" title="Spectral Clustering.png"/>
          <p:cNvPicPr preferRelativeResize="0"/>
          <p:nvPr/>
        </p:nvPicPr>
        <p:blipFill>
          <a:blip r:embed="rId3">
            <a:alphaModFix/>
          </a:blip>
          <a:stretch>
            <a:fillRect/>
          </a:stretch>
        </p:blipFill>
        <p:spPr>
          <a:xfrm>
            <a:off x="6137050" y="2624841"/>
            <a:ext cx="2419725" cy="2419700"/>
          </a:xfrm>
          <a:prstGeom prst="rect">
            <a:avLst/>
          </a:prstGeom>
          <a:noFill/>
          <a:ln>
            <a:noFill/>
          </a:ln>
        </p:spPr>
      </p:pic>
      <p:sp>
        <p:nvSpPr>
          <p:cNvPr id="111" name="Google Shape;111;p22"/>
          <p:cNvSpPr txBox="1"/>
          <p:nvPr/>
        </p:nvSpPr>
        <p:spPr>
          <a:xfrm>
            <a:off x="2155200" y="495479"/>
            <a:ext cx="6677100" cy="636900"/>
          </a:xfrm>
          <a:prstGeom prst="rect">
            <a:avLst/>
          </a:prstGeom>
          <a:noFill/>
          <a:ln>
            <a:noFill/>
          </a:ln>
          <a:effectLst>
            <a:outerShdw blurRad="57150" rotWithShape="0" algn="bl" dir="5400000" dist="19050">
              <a:srgbClr val="0000FF">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from sklearn.cluster import SpectralClustering</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SPC = SpectralClustering(n_clusters=2,assign_labels='discretize',random_state=0).fit(x)</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y_MS = SPC.fit_predict(x)</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idx="1" type="body"/>
          </p:nvPr>
        </p:nvSpPr>
        <p:spPr>
          <a:xfrm>
            <a:off x="311700" y="440425"/>
            <a:ext cx="8520600" cy="43257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Important Parameters:</a:t>
            </a:r>
            <a:endParaRPr b="1" sz="13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Char char="●"/>
            </a:pPr>
            <a:r>
              <a:rPr lang="en" sz="1100">
                <a:solidFill>
                  <a:srgbClr val="188038"/>
                </a:solidFill>
                <a:latin typeface="Times New Roman"/>
                <a:ea typeface="Times New Roman"/>
                <a:cs typeface="Times New Roman"/>
                <a:sym typeface="Times New Roman"/>
              </a:rPr>
              <a:t>n_clusters</a:t>
            </a:r>
            <a:r>
              <a:rPr lang="en" sz="1100">
                <a:solidFill>
                  <a:schemeClr val="dk1"/>
                </a:solidFill>
                <a:latin typeface="Times New Roman"/>
                <a:ea typeface="Times New Roman"/>
                <a:cs typeface="Times New Roman"/>
                <a:sym typeface="Times New Roman"/>
              </a:rPr>
              <a:t>: Number of clusters</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lang="en" sz="1100">
                <a:solidFill>
                  <a:srgbClr val="188038"/>
                </a:solidFill>
                <a:latin typeface="Times New Roman"/>
                <a:ea typeface="Times New Roman"/>
                <a:cs typeface="Times New Roman"/>
                <a:sym typeface="Times New Roman"/>
              </a:rPr>
              <a:t>affinity</a:t>
            </a:r>
            <a:r>
              <a:rPr lang="en" sz="1100">
                <a:solidFill>
                  <a:schemeClr val="dk1"/>
                </a:solidFill>
                <a:latin typeface="Times New Roman"/>
                <a:ea typeface="Times New Roman"/>
                <a:cs typeface="Times New Roman"/>
                <a:sym typeface="Times New Roman"/>
              </a:rPr>
              <a:t>:</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Char char="○"/>
            </a:pPr>
            <a:r>
              <a:rPr lang="en" sz="1100">
                <a:solidFill>
                  <a:srgbClr val="188038"/>
                </a:solidFill>
                <a:latin typeface="Times New Roman"/>
                <a:ea typeface="Times New Roman"/>
                <a:cs typeface="Times New Roman"/>
                <a:sym typeface="Times New Roman"/>
              </a:rPr>
              <a:t>'rbf'</a:t>
            </a:r>
            <a:r>
              <a:rPr lang="en" sz="1100">
                <a:solidFill>
                  <a:schemeClr val="dk1"/>
                </a:solidFill>
                <a:latin typeface="Times New Roman"/>
                <a:ea typeface="Times New Roman"/>
                <a:cs typeface="Times New Roman"/>
                <a:sym typeface="Times New Roman"/>
              </a:rPr>
              <a:t>: Gaussian kernel (default)</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Char char="○"/>
            </a:pPr>
            <a:r>
              <a:rPr lang="en" sz="1100">
                <a:solidFill>
                  <a:srgbClr val="188038"/>
                </a:solidFill>
                <a:latin typeface="Times New Roman"/>
                <a:ea typeface="Times New Roman"/>
                <a:cs typeface="Times New Roman"/>
                <a:sym typeface="Times New Roman"/>
              </a:rPr>
              <a:t>'nearest_neighbors'</a:t>
            </a:r>
            <a:r>
              <a:rPr lang="en" sz="1100">
                <a:solidFill>
                  <a:schemeClr val="dk1"/>
                </a:solidFill>
                <a:latin typeface="Times New Roman"/>
                <a:ea typeface="Times New Roman"/>
                <a:cs typeface="Times New Roman"/>
                <a:sym typeface="Times New Roman"/>
              </a:rPr>
              <a:t>: Good for graph-type data</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lang="en" sz="1100">
                <a:solidFill>
                  <a:srgbClr val="188038"/>
                </a:solidFill>
                <a:latin typeface="Times New Roman"/>
                <a:ea typeface="Times New Roman"/>
                <a:cs typeface="Times New Roman"/>
                <a:sym typeface="Times New Roman"/>
              </a:rPr>
              <a:t>assign_labels</a:t>
            </a:r>
            <a:r>
              <a:rPr lang="en" sz="1100">
                <a:solidFill>
                  <a:schemeClr val="dk1"/>
                </a:solidFill>
                <a:latin typeface="Times New Roman"/>
                <a:ea typeface="Times New Roman"/>
                <a:cs typeface="Times New Roman"/>
                <a:sym typeface="Times New Roman"/>
              </a:rPr>
              <a:t>: </a:t>
            </a:r>
            <a:r>
              <a:rPr lang="en" sz="1100">
                <a:solidFill>
                  <a:srgbClr val="188038"/>
                </a:solidFill>
                <a:latin typeface="Times New Roman"/>
                <a:ea typeface="Times New Roman"/>
                <a:cs typeface="Times New Roman"/>
                <a:sym typeface="Times New Roman"/>
              </a:rPr>
              <a:t>'kmeans'</a:t>
            </a:r>
            <a:r>
              <a:rPr lang="en" sz="1100">
                <a:solidFill>
                  <a:schemeClr val="dk1"/>
                </a:solidFill>
                <a:latin typeface="Times New Roman"/>
                <a:ea typeface="Times New Roman"/>
                <a:cs typeface="Times New Roman"/>
                <a:sym typeface="Times New Roman"/>
              </a:rPr>
              <a:t> or </a:t>
            </a:r>
            <a:r>
              <a:rPr lang="en" sz="1100">
                <a:solidFill>
                  <a:srgbClr val="188038"/>
                </a:solidFill>
                <a:latin typeface="Times New Roman"/>
                <a:ea typeface="Times New Roman"/>
                <a:cs typeface="Times New Roman"/>
                <a:sym typeface="Times New Roman"/>
              </a:rPr>
              <a:t>'discretize'</a:t>
            </a:r>
            <a:br>
              <a:rPr lang="en" sz="1100">
                <a:solidFill>
                  <a:srgbClr val="188038"/>
                </a:solidFill>
                <a:latin typeface="Times New Roman"/>
                <a:ea typeface="Times New Roman"/>
                <a:cs typeface="Times New Roman"/>
                <a:sym typeface="Times New Roman"/>
              </a:rPr>
            </a:br>
            <a:endParaRPr sz="1100">
              <a:solidFill>
                <a:srgbClr val="188038"/>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Char char="●"/>
            </a:pPr>
            <a:r>
              <a:rPr lang="en" sz="1100">
                <a:solidFill>
                  <a:srgbClr val="188038"/>
                </a:solidFill>
                <a:latin typeface="Times New Roman"/>
                <a:ea typeface="Times New Roman"/>
                <a:cs typeface="Times New Roman"/>
                <a:sym typeface="Times New Roman"/>
              </a:rPr>
              <a:t>gamma</a:t>
            </a:r>
            <a:r>
              <a:rPr lang="en" sz="1100">
                <a:solidFill>
                  <a:schemeClr val="dk1"/>
                </a:solidFill>
                <a:latin typeface="Times New Roman"/>
                <a:ea typeface="Times New Roman"/>
                <a:cs typeface="Times New Roman"/>
                <a:sym typeface="Times New Roman"/>
              </a:rPr>
              <a:t>: Used if </a:t>
            </a:r>
            <a:r>
              <a:rPr lang="en" sz="1100">
                <a:solidFill>
                  <a:srgbClr val="188038"/>
                </a:solidFill>
                <a:latin typeface="Times New Roman"/>
                <a:ea typeface="Times New Roman"/>
                <a:cs typeface="Times New Roman"/>
                <a:sym typeface="Times New Roman"/>
              </a:rPr>
              <a:t>affinity='rbf'</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idx="1" type="body"/>
          </p:nvPr>
        </p:nvSpPr>
        <p:spPr>
          <a:xfrm>
            <a:off x="311700" y="94375"/>
            <a:ext cx="8832300" cy="4158600"/>
          </a:xfrm>
          <a:prstGeom prst="rect">
            <a:avLst/>
          </a:prstGeom>
        </p:spPr>
        <p:txBody>
          <a:bodyPr anchorCtr="0" anchor="t" bIns="0" lIns="91425" spcFirstLastPara="1" rIns="91425" wrap="square" tIns="0">
            <a:spAutoFit/>
          </a:bodyPr>
          <a:lstStyle/>
          <a:p>
            <a:pPr indent="0" lvl="0" marL="0" rtl="0" algn="l">
              <a:lnSpc>
                <a:spcPct val="144444"/>
              </a:lnSpc>
              <a:spcBef>
                <a:spcPts val="1500"/>
              </a:spcBef>
              <a:spcAft>
                <a:spcPts val="0"/>
              </a:spcAft>
              <a:buClr>
                <a:schemeClr val="dk1"/>
              </a:buClr>
              <a:buSzPts val="1100"/>
              <a:buFont typeface="Arial"/>
              <a:buNone/>
            </a:pPr>
            <a:r>
              <a:rPr lang="en" sz="1350">
                <a:solidFill>
                  <a:schemeClr val="dk1"/>
                </a:solidFill>
                <a:highlight>
                  <a:srgbClr val="FFFFFF"/>
                </a:highlight>
                <a:latin typeface="Times New Roman"/>
                <a:ea typeface="Times New Roman"/>
                <a:cs typeface="Times New Roman"/>
                <a:sym typeface="Times New Roman"/>
              </a:rPr>
              <a:t>Pros:</a:t>
            </a:r>
            <a:endParaRPr sz="135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80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Flexibility in Cluster Shape:</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Spectral clustering doesn't assume clusters are spherical or have a specific shape, making it suitable for complex, non-convex clusters.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Handles Non-Linear Data:</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 can effectively cluster data with non-linear boundaries, unlike algorithms like k-means that assume spherical clusters.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Robustness to Noise:</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Spectral clustering is generally less sensitive to noise and outliers compared to some other methods.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Can Discover Hidden Structures: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By leveraging graph theory, it can reveal hidden relationships and structures within the data that might not be obvious with other methods.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Effective for Sparse Data:</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 can be computationally efficient for sparse datasets, particularly when dealing with a few thousand data points.</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Dimensionality Reduction:</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 involves reducing the dimensionality of the data, which can simplify subsequent clustering steps.</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idx="1" type="body"/>
          </p:nvPr>
        </p:nvSpPr>
        <p:spPr>
          <a:xfrm>
            <a:off x="311700" y="235950"/>
            <a:ext cx="8520600" cy="4482900"/>
          </a:xfrm>
          <a:prstGeom prst="rect">
            <a:avLst/>
          </a:prstGeom>
        </p:spPr>
        <p:txBody>
          <a:bodyPr anchorCtr="0" anchor="t" bIns="91425" lIns="91425" spcFirstLastPara="1" rIns="91425" wrap="square" tIns="91425">
            <a:normAutofit/>
          </a:bodyPr>
          <a:lstStyle/>
          <a:p>
            <a:pPr indent="0" lvl="0" marL="0" rtl="0" algn="l">
              <a:lnSpc>
                <a:spcPct val="144444"/>
              </a:lnSpc>
              <a:spcBef>
                <a:spcPts val="1500"/>
              </a:spcBef>
              <a:spcAft>
                <a:spcPts val="0"/>
              </a:spcAft>
              <a:buClr>
                <a:schemeClr val="dk1"/>
              </a:buClr>
              <a:buSzPts val="1100"/>
              <a:buFont typeface="Arial"/>
              <a:buNone/>
            </a:pPr>
            <a:r>
              <a:rPr lang="en" sz="1450">
                <a:solidFill>
                  <a:schemeClr val="dk1"/>
                </a:solidFill>
                <a:highlight>
                  <a:srgbClr val="FFFFFF"/>
                </a:highlight>
                <a:latin typeface="Times New Roman"/>
                <a:ea typeface="Times New Roman"/>
                <a:cs typeface="Times New Roman"/>
                <a:sym typeface="Times New Roman"/>
              </a:rPr>
              <a:t>CONS:</a:t>
            </a:r>
            <a:endParaRPr sz="145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800"/>
              </a:spcBef>
              <a:spcAft>
                <a:spcPts val="0"/>
              </a:spcAft>
              <a:buClr>
                <a:schemeClr val="dk1"/>
              </a:buClr>
              <a:buSzPts val="1300"/>
              <a:buNone/>
            </a:pPr>
            <a:r>
              <a:rPr b="1" lang="en" sz="1300">
                <a:solidFill>
                  <a:schemeClr val="dk1"/>
                </a:solidFill>
                <a:highlight>
                  <a:srgbClr val="FFFFFF"/>
                </a:highlight>
                <a:latin typeface="Times New Roman"/>
                <a:ea typeface="Times New Roman"/>
                <a:cs typeface="Times New Roman"/>
                <a:sym typeface="Times New Roman"/>
              </a:rPr>
              <a:t>Computational Complexity:</a:t>
            </a:r>
            <a:br>
              <a:rPr b="1" lang="en" sz="1300">
                <a:solidFill>
                  <a:schemeClr val="dk1"/>
                </a:solidFill>
                <a:highlight>
                  <a:srgbClr val="FFFFFF"/>
                </a:highlight>
                <a:latin typeface="Times New Roman"/>
                <a:ea typeface="Times New Roman"/>
                <a:cs typeface="Times New Roman"/>
                <a:sym typeface="Times New Roman"/>
              </a:rPr>
            </a:br>
            <a:r>
              <a:rPr lang="en" sz="1300">
                <a:solidFill>
                  <a:schemeClr val="dk1"/>
                </a:solidFill>
                <a:highlight>
                  <a:srgbClr val="FFFFFF"/>
                </a:highlight>
                <a:latin typeface="Times New Roman"/>
                <a:ea typeface="Times New Roman"/>
                <a:cs typeface="Times New Roman"/>
                <a:sym typeface="Times New Roman"/>
              </a:rPr>
              <a:t>Calculating eigenvalues and eigenvectors for large datasets can be computationally expensive, potentially leading to slow performance. </a:t>
            </a:r>
            <a:endParaRPr sz="13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300"/>
              <a:buNone/>
            </a:pPr>
            <a:r>
              <a:rPr b="1" lang="en" sz="1300">
                <a:solidFill>
                  <a:schemeClr val="dk1"/>
                </a:solidFill>
                <a:highlight>
                  <a:srgbClr val="FFFFFF"/>
                </a:highlight>
                <a:latin typeface="Times New Roman"/>
                <a:ea typeface="Times New Roman"/>
                <a:cs typeface="Times New Roman"/>
                <a:sym typeface="Times New Roman"/>
              </a:rPr>
              <a:t>Memory Intensive:</a:t>
            </a:r>
            <a:br>
              <a:rPr b="1" lang="en" sz="1300">
                <a:solidFill>
                  <a:schemeClr val="dk1"/>
                </a:solidFill>
                <a:highlight>
                  <a:srgbClr val="FFFFFF"/>
                </a:highlight>
                <a:latin typeface="Times New Roman"/>
                <a:ea typeface="Times New Roman"/>
                <a:cs typeface="Times New Roman"/>
                <a:sym typeface="Times New Roman"/>
              </a:rPr>
            </a:br>
            <a:r>
              <a:rPr lang="en" sz="1300">
                <a:solidFill>
                  <a:schemeClr val="dk1"/>
                </a:solidFill>
                <a:highlight>
                  <a:srgbClr val="FFFFFF"/>
                </a:highlight>
                <a:latin typeface="Times New Roman"/>
                <a:ea typeface="Times New Roman"/>
                <a:cs typeface="Times New Roman"/>
                <a:sym typeface="Times New Roman"/>
              </a:rPr>
              <a:t>Storing the similarity matrix (which can be dense) for large datasets can require significant memory. </a:t>
            </a:r>
            <a:endParaRPr sz="13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300"/>
              <a:buNone/>
            </a:pPr>
            <a:r>
              <a:rPr b="1" lang="en" sz="1300">
                <a:solidFill>
                  <a:schemeClr val="dk1"/>
                </a:solidFill>
                <a:highlight>
                  <a:srgbClr val="FFFFFF"/>
                </a:highlight>
                <a:latin typeface="Times New Roman"/>
                <a:ea typeface="Times New Roman"/>
                <a:cs typeface="Times New Roman"/>
                <a:sym typeface="Times New Roman"/>
              </a:rPr>
              <a:t>Parameter Sensitivity:</a:t>
            </a:r>
            <a:br>
              <a:rPr b="1" lang="en" sz="1300">
                <a:solidFill>
                  <a:schemeClr val="dk1"/>
                </a:solidFill>
                <a:highlight>
                  <a:srgbClr val="FFFFFF"/>
                </a:highlight>
                <a:latin typeface="Times New Roman"/>
                <a:ea typeface="Times New Roman"/>
                <a:cs typeface="Times New Roman"/>
                <a:sym typeface="Times New Roman"/>
              </a:rPr>
            </a:br>
            <a:r>
              <a:rPr lang="en" sz="1300">
                <a:solidFill>
                  <a:schemeClr val="dk1"/>
                </a:solidFill>
                <a:highlight>
                  <a:srgbClr val="FFFFFF"/>
                </a:highlight>
                <a:latin typeface="Times New Roman"/>
                <a:ea typeface="Times New Roman"/>
                <a:cs typeface="Times New Roman"/>
                <a:sym typeface="Times New Roman"/>
              </a:rPr>
              <a:t>The choice of similarity matrix and other parameters can greatly affect the results, requiring careful tuning. </a:t>
            </a:r>
            <a:endParaRPr sz="13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300"/>
              <a:buNone/>
            </a:pPr>
            <a:r>
              <a:rPr b="1" lang="en" sz="1300">
                <a:solidFill>
                  <a:schemeClr val="dk1"/>
                </a:solidFill>
                <a:highlight>
                  <a:srgbClr val="FFFFFF"/>
                </a:highlight>
                <a:latin typeface="Times New Roman"/>
                <a:ea typeface="Times New Roman"/>
                <a:cs typeface="Times New Roman"/>
                <a:sym typeface="Times New Roman"/>
              </a:rPr>
              <a:t>Scalability Issues:</a:t>
            </a:r>
            <a:br>
              <a:rPr b="1" lang="en" sz="1300">
                <a:solidFill>
                  <a:schemeClr val="dk1"/>
                </a:solidFill>
                <a:highlight>
                  <a:srgbClr val="FFFFFF"/>
                </a:highlight>
                <a:latin typeface="Times New Roman"/>
                <a:ea typeface="Times New Roman"/>
                <a:cs typeface="Times New Roman"/>
                <a:sym typeface="Times New Roman"/>
              </a:rPr>
            </a:br>
            <a:r>
              <a:rPr lang="en" sz="1300">
                <a:solidFill>
                  <a:schemeClr val="dk1"/>
                </a:solidFill>
                <a:highlight>
                  <a:srgbClr val="FFFFFF"/>
                </a:highlight>
                <a:latin typeface="Times New Roman"/>
                <a:ea typeface="Times New Roman"/>
                <a:cs typeface="Times New Roman"/>
                <a:sym typeface="Times New Roman"/>
              </a:rPr>
              <a:t>For extremely large datasets, spectral clustering can become impractical due to its computational complexity.</a:t>
            </a:r>
            <a:endParaRPr sz="13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300"/>
              <a:buNone/>
            </a:pPr>
            <a:r>
              <a:rPr b="1" lang="en" sz="1300">
                <a:solidFill>
                  <a:schemeClr val="dk1"/>
                </a:solidFill>
                <a:highlight>
                  <a:srgbClr val="FFFFFF"/>
                </a:highlight>
                <a:latin typeface="Times New Roman"/>
                <a:ea typeface="Times New Roman"/>
                <a:cs typeface="Times New Roman"/>
                <a:sym typeface="Times New Roman"/>
              </a:rPr>
              <a:t>Post-processing Required:</a:t>
            </a:r>
            <a:br>
              <a:rPr b="1" lang="en" sz="1300">
                <a:solidFill>
                  <a:schemeClr val="dk1"/>
                </a:solidFill>
                <a:highlight>
                  <a:srgbClr val="FFFFFF"/>
                </a:highlight>
                <a:latin typeface="Times New Roman"/>
                <a:ea typeface="Times New Roman"/>
                <a:cs typeface="Times New Roman"/>
                <a:sym typeface="Times New Roman"/>
              </a:rPr>
            </a:br>
            <a:r>
              <a:rPr lang="en" sz="1300">
                <a:solidFill>
                  <a:schemeClr val="dk1"/>
                </a:solidFill>
                <a:highlight>
                  <a:srgbClr val="FFFFFF"/>
                </a:highlight>
                <a:latin typeface="Times New Roman"/>
                <a:ea typeface="Times New Roman"/>
                <a:cs typeface="Times New Roman"/>
                <a:sym typeface="Times New Roman"/>
              </a:rPr>
              <a:t>After the spectral decomposition, a separate clustering algorithm (like k-means) is typically used, which can introduce its own challenges. </a:t>
            </a:r>
            <a:endParaRPr sz="1300">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idx="1" type="body"/>
          </p:nvPr>
        </p:nvSpPr>
        <p:spPr>
          <a:xfrm>
            <a:off x="311700" y="133700"/>
            <a:ext cx="8520600" cy="49155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When to Use:</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chemeClr val="dk1"/>
                </a:solidFill>
                <a:latin typeface="Times New Roman"/>
                <a:ea typeface="Times New Roman"/>
                <a:cs typeface="Times New Roman"/>
                <a:sym typeface="Times New Roman"/>
              </a:rPr>
              <a:t>Ideal for:</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Non-linear cluster shapes (e.g., moons, circles)</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Graph-based data</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Small to medium datasets</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chemeClr val="dk1"/>
                </a:solidFill>
                <a:latin typeface="Times New Roman"/>
                <a:ea typeface="Times New Roman"/>
                <a:cs typeface="Times New Roman"/>
                <a:sym typeface="Times New Roman"/>
              </a:rPr>
              <a:t>Not ideal for:</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V</a:t>
            </a:r>
            <a:r>
              <a:rPr lang="en" sz="1200">
                <a:solidFill>
                  <a:schemeClr val="dk1"/>
                </a:solidFill>
                <a:latin typeface="Times New Roman"/>
                <a:ea typeface="Times New Roman"/>
                <a:cs typeface="Times New Roman"/>
                <a:sym typeface="Times New Roman"/>
              </a:rPr>
              <a:t>ery large datasets (due to eigen decomposition)</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When similarity matrix is hard to define</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Applications:</a:t>
            </a:r>
            <a:endParaRPr b="1"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Image segmentation</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Community detection in networks</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Recommendation systems</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Voice or speech clustering</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idx="1" type="body"/>
          </p:nvPr>
        </p:nvSpPr>
        <p:spPr>
          <a:xfrm>
            <a:off x="311700" y="1262581"/>
            <a:ext cx="8520600" cy="3794400"/>
          </a:xfrm>
          <a:prstGeom prst="rect">
            <a:avLst/>
          </a:prstGeom>
          <a:effectLst>
            <a:reflection blurRad="0" dir="5400000" dist="38100" endA="0" fadeDir="5400012" kx="0" rotWithShape="0" algn="bl" stPos="0" sy="-100000" ky="0"/>
          </a:effectLst>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Times New Roman"/>
                <a:ea typeface="Times New Roman"/>
                <a:cs typeface="Times New Roman"/>
                <a:sym typeface="Times New Roman"/>
              </a:rPr>
              <a:t>DBSCAN</a:t>
            </a:r>
            <a:r>
              <a:rPr lang="en" sz="1200">
                <a:solidFill>
                  <a:schemeClr val="dk1"/>
                </a:solidFill>
                <a:latin typeface="Times New Roman"/>
                <a:ea typeface="Times New Roman"/>
                <a:cs typeface="Times New Roman"/>
                <a:sym typeface="Times New Roman"/>
              </a:rPr>
              <a:t> is a popular </a:t>
            </a:r>
            <a:r>
              <a:rPr b="1" lang="en" sz="1200">
                <a:solidFill>
                  <a:schemeClr val="dk1"/>
                </a:solidFill>
                <a:latin typeface="Times New Roman"/>
                <a:ea typeface="Times New Roman"/>
                <a:cs typeface="Times New Roman"/>
                <a:sym typeface="Times New Roman"/>
              </a:rPr>
              <a:t>density-based clustering</a:t>
            </a:r>
            <a:r>
              <a:rPr lang="en" sz="1200">
                <a:solidFill>
                  <a:schemeClr val="dk1"/>
                </a:solidFill>
                <a:latin typeface="Times New Roman"/>
                <a:ea typeface="Times New Roman"/>
                <a:cs typeface="Times New Roman"/>
                <a:sym typeface="Times New Roman"/>
              </a:rPr>
              <a:t> algorithm. Unlike K-Means, it </a:t>
            </a:r>
            <a:r>
              <a:rPr b="1" lang="en" sz="1200">
                <a:solidFill>
                  <a:schemeClr val="dk1"/>
                </a:solidFill>
                <a:latin typeface="Times New Roman"/>
                <a:ea typeface="Times New Roman"/>
                <a:cs typeface="Times New Roman"/>
                <a:sym typeface="Times New Roman"/>
              </a:rPr>
              <a:t>does not require specifying the number of clusters (</a:t>
            </a:r>
            <a:r>
              <a:rPr b="1" lang="en" sz="1200">
                <a:solidFill>
                  <a:srgbClr val="188038"/>
                </a:solidFill>
                <a:latin typeface="Times New Roman"/>
                <a:ea typeface="Times New Roman"/>
                <a:cs typeface="Times New Roman"/>
                <a:sym typeface="Times New Roman"/>
              </a:rPr>
              <a:t>k</a:t>
            </a:r>
            <a:r>
              <a:rPr b="1" lang="en" sz="1200">
                <a:solidFill>
                  <a:schemeClr val="dk1"/>
                </a:solidFill>
                <a:latin typeface="Times New Roman"/>
                <a:ea typeface="Times New Roman"/>
                <a:cs typeface="Times New Roman"/>
                <a:sym typeface="Times New Roman"/>
              </a:rPr>
              <a:t>)</a:t>
            </a:r>
            <a:r>
              <a:rPr lang="en" sz="1200">
                <a:solidFill>
                  <a:schemeClr val="dk1"/>
                </a:solidFill>
                <a:latin typeface="Times New Roman"/>
                <a:ea typeface="Times New Roman"/>
                <a:cs typeface="Times New Roman"/>
                <a:sym typeface="Times New Roman"/>
              </a:rPr>
              <a:t>, and it's great at </a:t>
            </a:r>
            <a:r>
              <a:rPr b="1" lang="en" sz="1200">
                <a:solidFill>
                  <a:schemeClr val="dk1"/>
                </a:solidFill>
                <a:latin typeface="Times New Roman"/>
                <a:ea typeface="Times New Roman"/>
                <a:cs typeface="Times New Roman"/>
                <a:sym typeface="Times New Roman"/>
              </a:rPr>
              <a:t>identifying arbitrarily shaped clusters</a:t>
            </a:r>
            <a:r>
              <a:rPr lang="en" sz="1200">
                <a:solidFill>
                  <a:schemeClr val="dk1"/>
                </a:solidFill>
                <a:latin typeface="Times New Roman"/>
                <a:ea typeface="Times New Roman"/>
                <a:cs typeface="Times New Roman"/>
                <a:sym typeface="Times New Roman"/>
              </a:rPr>
              <a:t> and </a:t>
            </a:r>
            <a:r>
              <a:rPr b="1" lang="en" sz="1200">
                <a:solidFill>
                  <a:schemeClr val="dk1"/>
                </a:solidFill>
                <a:latin typeface="Times New Roman"/>
                <a:ea typeface="Times New Roman"/>
                <a:cs typeface="Times New Roman"/>
                <a:sym typeface="Times New Roman"/>
              </a:rPr>
              <a:t>detecting noise/outliers</a:t>
            </a:r>
            <a:r>
              <a:rPr lang="en"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350">
                <a:solidFill>
                  <a:srgbClr val="001D35"/>
                </a:solidFill>
                <a:highlight>
                  <a:srgbClr val="FFFFFF"/>
                </a:highlight>
              </a:rPr>
              <a:t>DBSCAN doesn't require specifying the number of clusters beforehand and can handle clusters of arbitrary shapes and sizes. It's particularly useful for identifying clusters in datasets with varying densities and for outlier detection.</a:t>
            </a:r>
            <a:endParaRPr sz="1350">
              <a:solidFill>
                <a:srgbClr val="001D35"/>
              </a:solidFill>
              <a:highlight>
                <a:srgbClr val="FFFFFF"/>
              </a:highlight>
            </a:endParaRPr>
          </a:p>
          <a:p>
            <a:pPr indent="0" lvl="0" marL="0" rtl="0" algn="l">
              <a:lnSpc>
                <a:spcPct val="144444"/>
              </a:lnSpc>
              <a:spcBef>
                <a:spcPts val="1500"/>
              </a:spcBef>
              <a:spcAft>
                <a:spcPts val="0"/>
              </a:spcAft>
              <a:buClr>
                <a:schemeClr val="dk1"/>
              </a:buClr>
              <a:buSzPts val="1100"/>
              <a:buFont typeface="Arial"/>
              <a:buNone/>
            </a:pPr>
            <a:r>
              <a:rPr lang="en" sz="1350">
                <a:solidFill>
                  <a:srgbClr val="001D35"/>
                </a:solidFill>
                <a:highlight>
                  <a:srgbClr val="FFFFFF"/>
                </a:highlight>
              </a:rPr>
              <a:t>Core Concepts:</a:t>
            </a:r>
            <a:endParaRPr sz="1350">
              <a:solidFill>
                <a:srgbClr val="001D35"/>
              </a:solidFill>
              <a:highlight>
                <a:srgbClr val="FFFFFF"/>
              </a:highlight>
            </a:endParaRPr>
          </a:p>
          <a:p>
            <a:pPr indent="-228600" lvl="0" marL="190500" marR="63500" rtl="0" algn="l">
              <a:lnSpc>
                <a:spcPct val="137500"/>
              </a:lnSpc>
              <a:spcBef>
                <a:spcPts val="800"/>
              </a:spcBef>
              <a:spcAft>
                <a:spcPts val="0"/>
              </a:spcAft>
              <a:buClr>
                <a:schemeClr val="dk1"/>
              </a:buClr>
              <a:buSzPts val="1200"/>
              <a:buNone/>
            </a:pPr>
            <a:r>
              <a:rPr b="1" lang="en" sz="1200">
                <a:solidFill>
                  <a:schemeClr val="dk1"/>
                </a:solidFill>
                <a:highlight>
                  <a:srgbClr val="FFFFFF"/>
                </a:highlight>
              </a:rPr>
              <a:t>Core Points:</a:t>
            </a:r>
            <a:br>
              <a:rPr b="1" lang="en" sz="1200">
                <a:solidFill>
                  <a:schemeClr val="dk1"/>
                </a:solidFill>
                <a:highlight>
                  <a:srgbClr val="FFFFFF"/>
                </a:highlight>
              </a:rPr>
            </a:br>
            <a:r>
              <a:rPr lang="en" sz="1200">
                <a:solidFill>
                  <a:schemeClr val="dk1"/>
                </a:solidFill>
                <a:highlight>
                  <a:srgbClr val="FFFFFF"/>
                </a:highlight>
              </a:rPr>
              <a:t>A data point is a core point if it has at least a specified number of other data points (MinPts) within a given radius (epsilon or ε). </a:t>
            </a:r>
            <a:endParaRPr sz="1200">
              <a:solidFill>
                <a:schemeClr val="dk1"/>
              </a:solidFill>
              <a:highlight>
                <a:srgbClr val="FFFFFF"/>
              </a:highlight>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rPr>
              <a:t>Border Points:</a:t>
            </a:r>
            <a:br>
              <a:rPr b="1" lang="en" sz="1200">
                <a:solidFill>
                  <a:schemeClr val="dk1"/>
                </a:solidFill>
                <a:highlight>
                  <a:srgbClr val="FFFFFF"/>
                </a:highlight>
              </a:rPr>
            </a:br>
            <a:r>
              <a:rPr lang="en" sz="1200">
                <a:solidFill>
                  <a:schemeClr val="dk1"/>
                </a:solidFill>
                <a:highlight>
                  <a:srgbClr val="FFFFFF"/>
                </a:highlight>
              </a:rPr>
              <a:t>A point that is within the ε radius of a core point but doesn't have enough neighbors itself to be a core point.</a:t>
            </a:r>
            <a:endParaRPr sz="1200">
              <a:solidFill>
                <a:schemeClr val="dk1"/>
              </a:solidFill>
              <a:highlight>
                <a:srgbClr val="FFFFFF"/>
              </a:highlight>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rPr>
              <a:t>Noise Points:</a:t>
            </a:r>
            <a:br>
              <a:rPr b="1" lang="en" sz="1200">
                <a:solidFill>
                  <a:schemeClr val="dk1"/>
                </a:solidFill>
                <a:highlight>
                  <a:srgbClr val="FFFFFF"/>
                </a:highlight>
              </a:rPr>
            </a:br>
            <a:r>
              <a:rPr lang="en" sz="1200">
                <a:solidFill>
                  <a:schemeClr val="dk1"/>
                </a:solidFill>
                <a:highlight>
                  <a:srgbClr val="FFFFFF"/>
                </a:highlight>
              </a:rPr>
              <a:t>Points that are neither core points nor border points. They are isolated and don't belong to any cluster. </a:t>
            </a:r>
            <a:endParaRPr sz="1200">
              <a:solidFill>
                <a:schemeClr val="dk1"/>
              </a:solidFill>
              <a:highlight>
                <a:srgbClr val="FFFFFF"/>
              </a:highlight>
            </a:endParaRPr>
          </a:p>
          <a:p>
            <a:pPr indent="0" lvl="0" marL="0" rtl="0" algn="l">
              <a:spcBef>
                <a:spcPts val="2100"/>
              </a:spcBef>
              <a:spcAft>
                <a:spcPts val="0"/>
              </a:spcAft>
              <a:buNone/>
            </a:pPr>
            <a:r>
              <a:t/>
            </a:r>
            <a:endParaRPr sz="1350">
              <a:solidFill>
                <a:srgbClr val="001D35"/>
              </a:solidFill>
              <a:highlight>
                <a:srgbClr val="FFFFFF"/>
              </a:highlight>
            </a:endParaRPr>
          </a:p>
          <a:p>
            <a:pPr indent="0" lvl="0" marL="0" rtl="0" algn="l">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sp>
        <p:nvSpPr>
          <p:cNvPr id="137" name="Google Shape;137;p27"/>
          <p:cNvSpPr txBox="1"/>
          <p:nvPr>
            <p:ph type="title"/>
          </p:nvPr>
        </p:nvSpPr>
        <p:spPr>
          <a:xfrm>
            <a:off x="311700" y="11472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800"/>
              </a:spcBef>
              <a:spcAft>
                <a:spcPts val="400"/>
              </a:spcAft>
              <a:buNone/>
            </a:pPr>
            <a:r>
              <a:rPr lang="en" sz="2000">
                <a:solidFill>
                  <a:srgbClr val="222832"/>
                </a:solidFill>
                <a:highlight>
                  <a:srgbClr val="FFFFFF"/>
                </a:highlight>
                <a:latin typeface="Verdana"/>
                <a:ea typeface="Verdana"/>
                <a:cs typeface="Verdana"/>
                <a:sym typeface="Verdana"/>
              </a:rPr>
              <a:t>DBSCAN (Density-Based Spatial Clustering of Applications with Noise)</a:t>
            </a:r>
            <a:endParaRPr>
              <a:latin typeface="Verdana"/>
              <a:ea typeface="Verdana"/>
              <a:cs typeface="Verdana"/>
              <a:sym typeface="Verdana"/>
            </a:endParaRPr>
          </a:p>
        </p:txBody>
      </p:sp>
      <p:sp>
        <p:nvSpPr>
          <p:cNvPr id="138" name="Google Shape;138;p27"/>
          <p:cNvSpPr txBox="1"/>
          <p:nvPr/>
        </p:nvSpPr>
        <p:spPr>
          <a:xfrm>
            <a:off x="2320075" y="534752"/>
            <a:ext cx="6441000" cy="688500"/>
          </a:xfrm>
          <a:prstGeom prst="rect">
            <a:avLst/>
          </a:prstGeom>
          <a:noFill/>
          <a:ln>
            <a:noFill/>
          </a:ln>
          <a:effectLst>
            <a:outerShdw blurRad="57150" rotWithShape="0" algn="bl" dir="5400000" dist="19050">
              <a:srgbClr val="0000FF">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from sklearn.cluster import DBSCAN</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DBS = DBSCAN(eps=3, min_samples=2).fit(x)</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y_DBS = DBS.fit_predict(x)</a:t>
            </a:r>
            <a:endParaRPr sz="1200">
              <a:solidFill>
                <a:schemeClr val="dk2"/>
              </a:solidFill>
              <a:latin typeface="Times New Roman"/>
              <a:ea typeface="Times New Roman"/>
              <a:cs typeface="Times New Roman"/>
              <a:sym typeface="Times New Roman"/>
            </a:endParaRPr>
          </a:p>
        </p:txBody>
      </p:sp>
    </p:spTree>
  </p:cSld>
  <p:clrMapOvr>
    <a:masterClrMapping/>
  </p:clrMapOvr>
  <mc:AlternateContent>
    <mc:Choice Requires="p14">
      <p:transition spd="med">
        <p14:prism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idx="1" type="body"/>
          </p:nvPr>
        </p:nvSpPr>
        <p:spPr>
          <a:xfrm>
            <a:off x="311700" y="220200"/>
            <a:ext cx="8520600" cy="46245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How It Works:</a:t>
            </a:r>
            <a:endParaRPr b="1"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Two parameters:</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Char char="○"/>
            </a:pPr>
            <a:r>
              <a:rPr lang="en" sz="1200">
                <a:solidFill>
                  <a:srgbClr val="188038"/>
                </a:solidFill>
                <a:latin typeface="Times New Roman"/>
                <a:ea typeface="Times New Roman"/>
                <a:cs typeface="Times New Roman"/>
                <a:sym typeface="Times New Roman"/>
              </a:rPr>
              <a:t>eps</a:t>
            </a:r>
            <a:r>
              <a:rPr lang="en" sz="1200">
                <a:solidFill>
                  <a:schemeClr val="dk1"/>
                </a:solidFill>
                <a:latin typeface="Times New Roman"/>
                <a:ea typeface="Times New Roman"/>
                <a:cs typeface="Times New Roman"/>
                <a:sym typeface="Times New Roman"/>
              </a:rPr>
              <a:t>: Maximum radius of the neighborhood.</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Char char="○"/>
            </a:pPr>
            <a:r>
              <a:rPr lang="en" sz="1200">
                <a:solidFill>
                  <a:srgbClr val="188038"/>
                </a:solidFill>
                <a:latin typeface="Times New Roman"/>
                <a:ea typeface="Times New Roman"/>
                <a:cs typeface="Times New Roman"/>
                <a:sym typeface="Times New Roman"/>
              </a:rPr>
              <a:t>min_samples</a:t>
            </a:r>
            <a:r>
              <a:rPr lang="en" sz="1200">
                <a:solidFill>
                  <a:schemeClr val="dk1"/>
                </a:solidFill>
                <a:latin typeface="Times New Roman"/>
                <a:ea typeface="Times New Roman"/>
                <a:cs typeface="Times New Roman"/>
                <a:sym typeface="Times New Roman"/>
              </a:rPr>
              <a:t>: Minimum number of points in a neighborhood to form a dense region.</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Classifies points as:</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Char char="○"/>
            </a:pPr>
            <a:r>
              <a:rPr b="1" lang="en" sz="1200">
                <a:solidFill>
                  <a:schemeClr val="dk1"/>
                </a:solidFill>
                <a:latin typeface="Times New Roman"/>
                <a:ea typeface="Times New Roman"/>
                <a:cs typeface="Times New Roman"/>
                <a:sym typeface="Times New Roman"/>
              </a:rPr>
              <a:t>Core points</a:t>
            </a:r>
            <a:r>
              <a:rPr lang="en" sz="1200">
                <a:solidFill>
                  <a:schemeClr val="dk1"/>
                </a:solidFill>
                <a:latin typeface="Times New Roman"/>
                <a:ea typeface="Times New Roman"/>
                <a:cs typeface="Times New Roman"/>
                <a:sym typeface="Times New Roman"/>
              </a:rPr>
              <a:t>: Have ≥ </a:t>
            </a:r>
            <a:r>
              <a:rPr lang="en" sz="1200">
                <a:solidFill>
                  <a:srgbClr val="188038"/>
                </a:solidFill>
                <a:latin typeface="Times New Roman"/>
                <a:ea typeface="Times New Roman"/>
                <a:cs typeface="Times New Roman"/>
                <a:sym typeface="Times New Roman"/>
              </a:rPr>
              <a:t>min_samples</a:t>
            </a:r>
            <a:r>
              <a:rPr lang="en" sz="1200">
                <a:solidFill>
                  <a:schemeClr val="dk1"/>
                </a:solidFill>
                <a:latin typeface="Times New Roman"/>
                <a:ea typeface="Times New Roman"/>
                <a:cs typeface="Times New Roman"/>
                <a:sym typeface="Times New Roman"/>
              </a:rPr>
              <a:t> points within </a:t>
            </a:r>
            <a:r>
              <a:rPr lang="en" sz="1200">
                <a:solidFill>
                  <a:srgbClr val="188038"/>
                </a:solidFill>
                <a:latin typeface="Times New Roman"/>
                <a:ea typeface="Times New Roman"/>
                <a:cs typeface="Times New Roman"/>
                <a:sym typeface="Times New Roman"/>
              </a:rPr>
              <a:t>eps</a:t>
            </a:r>
            <a:br>
              <a:rPr lang="en" sz="1200">
                <a:solidFill>
                  <a:srgbClr val="188038"/>
                </a:solidFill>
                <a:latin typeface="Times New Roman"/>
                <a:ea typeface="Times New Roman"/>
                <a:cs typeface="Times New Roman"/>
                <a:sym typeface="Times New Roman"/>
              </a:rPr>
            </a:br>
            <a:endParaRPr sz="1200">
              <a:solidFill>
                <a:srgbClr val="188038"/>
              </a:solidFill>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Char char="○"/>
            </a:pPr>
            <a:r>
              <a:rPr b="1" lang="en" sz="1200">
                <a:solidFill>
                  <a:schemeClr val="dk1"/>
                </a:solidFill>
                <a:latin typeface="Times New Roman"/>
                <a:ea typeface="Times New Roman"/>
                <a:cs typeface="Times New Roman"/>
                <a:sym typeface="Times New Roman"/>
              </a:rPr>
              <a:t>Border points</a:t>
            </a:r>
            <a:r>
              <a:rPr lang="en" sz="1200">
                <a:solidFill>
                  <a:schemeClr val="dk1"/>
                </a:solidFill>
                <a:latin typeface="Times New Roman"/>
                <a:ea typeface="Times New Roman"/>
                <a:cs typeface="Times New Roman"/>
                <a:sym typeface="Times New Roman"/>
              </a:rPr>
              <a:t>: Within </a:t>
            </a:r>
            <a:r>
              <a:rPr lang="en" sz="1200">
                <a:solidFill>
                  <a:srgbClr val="188038"/>
                </a:solidFill>
                <a:latin typeface="Times New Roman"/>
                <a:ea typeface="Times New Roman"/>
                <a:cs typeface="Times New Roman"/>
                <a:sym typeface="Times New Roman"/>
              </a:rPr>
              <a:t>eps</a:t>
            </a:r>
            <a:r>
              <a:rPr lang="en" sz="1200">
                <a:solidFill>
                  <a:schemeClr val="dk1"/>
                </a:solidFill>
                <a:latin typeface="Times New Roman"/>
                <a:ea typeface="Times New Roman"/>
                <a:cs typeface="Times New Roman"/>
                <a:sym typeface="Times New Roman"/>
              </a:rPr>
              <a:t> of a core point but not a core point</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Char char="○"/>
            </a:pPr>
            <a:r>
              <a:rPr b="1" lang="en" sz="1200">
                <a:solidFill>
                  <a:schemeClr val="dk1"/>
                </a:solidFill>
                <a:latin typeface="Times New Roman"/>
                <a:ea typeface="Times New Roman"/>
                <a:cs typeface="Times New Roman"/>
                <a:sym typeface="Times New Roman"/>
              </a:rPr>
              <a:t>Noise points</a:t>
            </a:r>
            <a:r>
              <a:rPr lang="en" sz="1200">
                <a:solidFill>
                  <a:schemeClr val="dk1"/>
                </a:solidFill>
                <a:latin typeface="Times New Roman"/>
                <a:ea typeface="Times New Roman"/>
                <a:cs typeface="Times New Roman"/>
                <a:sym typeface="Times New Roman"/>
              </a:rPr>
              <a:t>: Not a core or border point</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AutoNum type="arabicPeriod"/>
            </a:pPr>
            <a:r>
              <a:rPr lang="en" sz="1200">
                <a:solidFill>
                  <a:schemeClr val="dk1"/>
                </a:solidFill>
                <a:latin typeface="Times New Roman"/>
                <a:ea typeface="Times New Roman"/>
                <a:cs typeface="Times New Roman"/>
                <a:sym typeface="Times New Roman"/>
              </a:rPr>
              <a:t>Connects </a:t>
            </a:r>
            <a:r>
              <a:rPr b="1" lang="en" sz="1200">
                <a:solidFill>
                  <a:schemeClr val="dk1"/>
                </a:solidFill>
                <a:latin typeface="Times New Roman"/>
                <a:ea typeface="Times New Roman"/>
                <a:cs typeface="Times New Roman"/>
                <a:sym typeface="Times New Roman"/>
              </a:rPr>
              <a:t>core points</a:t>
            </a:r>
            <a:r>
              <a:rPr lang="en" sz="1200">
                <a:solidFill>
                  <a:schemeClr val="dk1"/>
                </a:solidFill>
                <a:latin typeface="Times New Roman"/>
                <a:ea typeface="Times New Roman"/>
                <a:cs typeface="Times New Roman"/>
                <a:sym typeface="Times New Roman"/>
              </a:rPr>
              <a:t> to form </a:t>
            </a:r>
            <a:r>
              <a:rPr b="1" lang="en" sz="1200">
                <a:solidFill>
                  <a:schemeClr val="dk1"/>
                </a:solidFill>
                <a:latin typeface="Times New Roman"/>
                <a:ea typeface="Times New Roman"/>
                <a:cs typeface="Times New Roman"/>
                <a:sym typeface="Times New Roman"/>
              </a:rPr>
              <a:t>clusters</a:t>
            </a:r>
            <a:r>
              <a:rPr lang="en" sz="1200">
                <a:solidFill>
                  <a:schemeClr val="dk1"/>
                </a:solidFill>
                <a:latin typeface="Times New Roman"/>
                <a:ea typeface="Times New Roman"/>
                <a:cs typeface="Times New Roman"/>
                <a:sym typeface="Times New Roman"/>
              </a:rPr>
              <a:t>, adds border points, ignores noise.</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idx="1" type="body"/>
          </p:nvPr>
        </p:nvSpPr>
        <p:spPr>
          <a:xfrm>
            <a:off x="311700" y="102250"/>
            <a:ext cx="8520600" cy="4813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PROS:</a:t>
            </a:r>
            <a:endParaRPr>
              <a:solidFill>
                <a:schemeClr val="dk1"/>
              </a:solidFill>
              <a:latin typeface="Times New Roman"/>
              <a:ea typeface="Times New Roman"/>
              <a:cs typeface="Times New Roman"/>
              <a:sym typeface="Times New Roman"/>
            </a:endParaRPr>
          </a:p>
          <a:p>
            <a:pPr indent="457200" lvl="0" marL="0" marR="63500" rtl="0" algn="l">
              <a:lnSpc>
                <a:spcPct val="137500"/>
              </a:lnSpc>
              <a:spcBef>
                <a:spcPts val="1200"/>
              </a:spcBef>
              <a:spcAft>
                <a:spcPts val="0"/>
              </a:spcAft>
              <a:buNone/>
            </a:pPr>
            <a:r>
              <a:rPr b="1" lang="en" sz="1200">
                <a:solidFill>
                  <a:schemeClr val="dk1"/>
                </a:solidFill>
                <a:highlight>
                  <a:srgbClr val="FFFFFF"/>
                </a:highlight>
                <a:latin typeface="Times New Roman"/>
                <a:ea typeface="Times New Roman"/>
                <a:cs typeface="Times New Roman"/>
                <a:sym typeface="Times New Roman"/>
              </a:rPr>
              <a:t>Handles arbitrary shapes:</a:t>
            </a:r>
            <a:r>
              <a:rPr lang="en" sz="1200">
                <a:solidFill>
                  <a:schemeClr val="dk1"/>
                </a:solidFill>
                <a:highlight>
                  <a:srgbClr val="FFFFFF"/>
                </a:highlight>
                <a:latin typeface="Times New Roman"/>
                <a:ea typeface="Times New Roman"/>
                <a:cs typeface="Times New Roman"/>
                <a:sym typeface="Times New Roman"/>
              </a:rPr>
              <a:t> Unlike K-Means, DBSCAN can find clusters of any shape, not just spherical or convex.</a:t>
            </a:r>
            <a:endParaRPr sz="1200">
              <a:solidFill>
                <a:schemeClr val="dk1"/>
              </a:solidFill>
              <a:highlight>
                <a:srgbClr val="FFFFFF"/>
              </a:highlight>
              <a:latin typeface="Times New Roman"/>
              <a:ea typeface="Times New Roman"/>
              <a:cs typeface="Times New Roman"/>
              <a:sym typeface="Times New Roman"/>
            </a:endParaRPr>
          </a:p>
          <a:p>
            <a:pPr indent="457200" lvl="0" marL="0" marR="63500" rtl="0" algn="l">
              <a:lnSpc>
                <a:spcPct val="137500"/>
              </a:lnSpc>
              <a:spcBef>
                <a:spcPts val="2100"/>
              </a:spcBef>
              <a:spcAft>
                <a:spcPts val="0"/>
              </a:spcAft>
              <a:buNone/>
            </a:pPr>
            <a:r>
              <a:rPr b="1" lang="en" sz="1200">
                <a:solidFill>
                  <a:schemeClr val="dk1"/>
                </a:solidFill>
                <a:highlight>
                  <a:srgbClr val="FFFFFF"/>
                </a:highlight>
                <a:latin typeface="Times New Roman"/>
                <a:ea typeface="Times New Roman"/>
                <a:cs typeface="Times New Roman"/>
                <a:sym typeface="Times New Roman"/>
              </a:rPr>
              <a:t>Outlier detection:</a:t>
            </a:r>
            <a:r>
              <a:rPr lang="en" sz="1200">
                <a:solidFill>
                  <a:schemeClr val="dk1"/>
                </a:solidFill>
                <a:highlight>
                  <a:srgbClr val="FFFFFF"/>
                </a:highlight>
                <a:latin typeface="Times New Roman"/>
                <a:ea typeface="Times New Roman"/>
                <a:cs typeface="Times New Roman"/>
                <a:sym typeface="Times New Roman"/>
              </a:rPr>
              <a:t> DBSCAN effectively identifies and marks outliers as noise. </a:t>
            </a:r>
            <a:endParaRPr sz="1200">
              <a:solidFill>
                <a:schemeClr val="dk1"/>
              </a:solidFill>
              <a:highlight>
                <a:srgbClr val="FFFFFF"/>
              </a:highlight>
              <a:latin typeface="Times New Roman"/>
              <a:ea typeface="Times New Roman"/>
              <a:cs typeface="Times New Roman"/>
              <a:sym typeface="Times New Roman"/>
            </a:endParaRPr>
          </a:p>
          <a:p>
            <a:pPr indent="457200" lvl="0" marL="0" marR="63500" rtl="0" algn="l">
              <a:lnSpc>
                <a:spcPct val="137500"/>
              </a:lnSpc>
              <a:spcBef>
                <a:spcPts val="2100"/>
              </a:spcBef>
              <a:spcAft>
                <a:spcPts val="0"/>
              </a:spcAft>
              <a:buNone/>
            </a:pPr>
            <a:r>
              <a:rPr b="1" lang="en" sz="1200">
                <a:solidFill>
                  <a:schemeClr val="dk1"/>
                </a:solidFill>
                <a:highlight>
                  <a:srgbClr val="FFFFFF"/>
                </a:highlight>
                <a:latin typeface="Times New Roman"/>
                <a:ea typeface="Times New Roman"/>
                <a:cs typeface="Times New Roman"/>
                <a:sym typeface="Times New Roman"/>
              </a:rPr>
              <a:t>No need to specify number of clusters:</a:t>
            </a:r>
            <a:r>
              <a:rPr lang="en" sz="1200">
                <a:solidFill>
                  <a:schemeClr val="dk1"/>
                </a:solidFill>
                <a:highlight>
                  <a:srgbClr val="FFFFFF"/>
                </a:highlight>
                <a:latin typeface="Times New Roman"/>
                <a:ea typeface="Times New Roman"/>
                <a:cs typeface="Times New Roman"/>
                <a:sym typeface="Times New Roman"/>
              </a:rPr>
              <a:t> You don't need to know the number of clusters beforehand. </a:t>
            </a:r>
            <a:endParaRPr sz="1200">
              <a:solidFill>
                <a:schemeClr val="dk1"/>
              </a:solidFill>
              <a:highlight>
                <a:srgbClr val="FFFFFF"/>
              </a:highlight>
              <a:latin typeface="Times New Roman"/>
              <a:ea typeface="Times New Roman"/>
              <a:cs typeface="Times New Roman"/>
              <a:sym typeface="Times New Roman"/>
            </a:endParaRPr>
          </a:p>
          <a:p>
            <a:pPr indent="457200" lvl="0" marL="0" rtl="0" algn="l">
              <a:lnSpc>
                <a:spcPct val="137500"/>
              </a:lnSpc>
              <a:spcBef>
                <a:spcPts val="2100"/>
              </a:spcBef>
              <a:spcAft>
                <a:spcPts val="0"/>
              </a:spcAft>
              <a:buNone/>
            </a:pPr>
            <a:r>
              <a:rPr b="1" lang="en" sz="1200">
                <a:solidFill>
                  <a:schemeClr val="dk1"/>
                </a:solidFill>
                <a:highlight>
                  <a:srgbClr val="FFFFFF"/>
                </a:highlight>
                <a:latin typeface="Times New Roman"/>
                <a:ea typeface="Times New Roman"/>
                <a:cs typeface="Times New Roman"/>
                <a:sym typeface="Times New Roman"/>
              </a:rPr>
              <a:t>Robust to noise:</a:t>
            </a:r>
            <a:r>
              <a:rPr lang="en" sz="1200">
                <a:solidFill>
                  <a:schemeClr val="dk1"/>
                </a:solidFill>
                <a:highlight>
                  <a:srgbClr val="FFFFFF"/>
                </a:highlight>
                <a:latin typeface="Times New Roman"/>
                <a:ea typeface="Times New Roman"/>
                <a:cs typeface="Times New Roman"/>
                <a:sym typeface="Times New Roman"/>
              </a:rPr>
              <a:t> DBSCAN can handle datasets with noise and outliers.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1500"/>
              </a:spcBef>
              <a:spcAft>
                <a:spcPts val="0"/>
              </a:spcAft>
              <a:buNone/>
            </a:pPr>
            <a:r>
              <a:rPr lang="en">
                <a:solidFill>
                  <a:schemeClr val="dk1"/>
                </a:solidFill>
                <a:latin typeface="Times New Roman"/>
                <a:ea typeface="Times New Roman"/>
                <a:cs typeface="Times New Roman"/>
                <a:sym typeface="Times New Roman"/>
              </a:rPr>
              <a:t>CONS</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228600" lvl="0" marL="457200" rtl="0" algn="l">
              <a:lnSpc>
                <a:spcPct val="137500"/>
              </a:lnSpc>
              <a:spcBef>
                <a:spcPts val="120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Parameter sensitivity:</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DBSCAN is sensitive to the choice of ε and MinPts. The optimal parameters can be difficult to determine and may require trial and error.</a:t>
            </a:r>
            <a:endParaRPr sz="1200">
              <a:solidFill>
                <a:schemeClr val="dk1"/>
              </a:solidFill>
              <a:highlight>
                <a:srgbClr val="FFFFFF"/>
              </a:highlight>
              <a:latin typeface="Times New Roman"/>
              <a:ea typeface="Times New Roman"/>
              <a:cs typeface="Times New Roman"/>
              <a:sym typeface="Times New Roman"/>
            </a:endParaRPr>
          </a:p>
          <a:p>
            <a:pPr indent="-228600" lvl="0" marL="4572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Varying densities: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DBSCAN may struggle with datasets where clusters have significantly different densities. An optimal ε for one cluster might not be appropriate for another.</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15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0"/>
          <p:cNvSpPr txBox="1"/>
          <p:nvPr>
            <p:ph idx="1" type="body"/>
          </p:nvPr>
        </p:nvSpPr>
        <p:spPr>
          <a:xfrm>
            <a:off x="311700" y="117975"/>
            <a:ext cx="8520600" cy="4884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Key Parameters: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Applications:</a:t>
            </a:r>
            <a:endParaRPr>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Customer segmentation</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Anomaly detection (e.g. fraud)</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Geospatial clustering</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Image analysis (clustering pixels/objects)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graphicFrame>
        <p:nvGraphicFramePr>
          <p:cNvPr id="154" name="Google Shape;154;p30"/>
          <p:cNvGraphicFramePr/>
          <p:nvPr/>
        </p:nvGraphicFramePr>
        <p:xfrm>
          <a:off x="740150" y="661525"/>
          <a:ext cx="3000000" cy="3000000"/>
        </p:xfrm>
        <a:graphic>
          <a:graphicData uri="http://schemas.openxmlformats.org/drawingml/2006/table">
            <a:tbl>
              <a:tblPr>
                <a:noFill/>
                <a:tableStyleId>{62DB2527-0E68-427E-8E4B-80A872B4F275}</a:tableStyleId>
              </a:tblPr>
              <a:tblGrid>
                <a:gridCol w="2353850"/>
                <a:gridCol w="4564150"/>
              </a:tblGrid>
              <a:tr h="397950">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Parameter</a:t>
                      </a:r>
                      <a:endParaRPr b="1"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Description</a:t>
                      </a:r>
                      <a:endParaRPr b="1" sz="1500">
                        <a:latin typeface="Times New Roman"/>
                        <a:ea typeface="Times New Roman"/>
                        <a:cs typeface="Times New Roman"/>
                        <a:sym typeface="Times New Roman"/>
                      </a:endParaRPr>
                    </a:p>
                  </a:txBody>
                  <a:tcPr marT="91425" marB="91425" marR="91425" marL="91425"/>
                </a:tc>
              </a:tr>
              <a:tr h="397950">
                <a:tc>
                  <a:txBody>
                    <a:bodyPr/>
                    <a:lstStyle/>
                    <a:p>
                      <a:pPr indent="0" lvl="0" marL="0" rtl="0" algn="l">
                        <a:spcBef>
                          <a:spcPts val="0"/>
                        </a:spcBef>
                        <a:spcAft>
                          <a:spcPts val="0"/>
                        </a:spcAft>
                        <a:buNone/>
                      </a:pPr>
                      <a:r>
                        <a:rPr lang="en">
                          <a:latin typeface="Times New Roman"/>
                          <a:ea typeface="Times New Roman"/>
                          <a:cs typeface="Times New Roman"/>
                          <a:sym typeface="Times New Roman"/>
                        </a:rPr>
                        <a:t>eps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Radius for neighborhood (try 0.1 to 0.5)</a:t>
                      </a:r>
                      <a:endParaRPr>
                        <a:latin typeface="Times New Roman"/>
                        <a:ea typeface="Times New Roman"/>
                        <a:cs typeface="Times New Roman"/>
                        <a:sym typeface="Times New Roman"/>
                      </a:endParaRPr>
                    </a:p>
                  </a:txBody>
                  <a:tcPr marT="91425" marB="91425" marR="91425" marL="91425"/>
                </a:tc>
              </a:tr>
              <a:tr h="612250">
                <a:tc>
                  <a:txBody>
                    <a:bodyPr/>
                    <a:lstStyle/>
                    <a:p>
                      <a:pPr indent="0" lvl="0" marL="0" rtl="0" algn="l">
                        <a:spcBef>
                          <a:spcPts val="0"/>
                        </a:spcBef>
                        <a:spcAft>
                          <a:spcPts val="0"/>
                        </a:spcAft>
                        <a:buNone/>
                      </a:pPr>
                      <a:r>
                        <a:rPr lang="en">
                          <a:latin typeface="Times New Roman"/>
                          <a:ea typeface="Times New Roman"/>
                          <a:cs typeface="Times New Roman"/>
                          <a:sym typeface="Times New Roman"/>
                        </a:rPr>
                        <a:t>min_samples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Minimum points to form a cluster (try 4–10)</a:t>
                      </a:r>
                      <a:endParaRPr>
                        <a:latin typeface="Times New Roman"/>
                        <a:ea typeface="Times New Roman"/>
                        <a:cs typeface="Times New Roman"/>
                        <a:sym typeface="Times New Roman"/>
                      </a:endParaRPr>
                    </a:p>
                  </a:txBody>
                  <a:tcPr marT="91425" marB="91425" marR="91425" marL="91425"/>
                </a:tc>
              </a:tr>
              <a:tr h="3827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metric</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Distance metric (default: </a:t>
                      </a:r>
                      <a:r>
                        <a:rPr lang="en">
                          <a:solidFill>
                            <a:srgbClr val="188038"/>
                          </a:solidFill>
                          <a:latin typeface="Times New Roman"/>
                          <a:ea typeface="Times New Roman"/>
                          <a:cs typeface="Times New Roman"/>
                          <a:sym typeface="Times New Roman"/>
                        </a:rPr>
                        <a:t>euclidean</a:t>
                      </a:r>
                      <a:r>
                        <a:rPr lang="en">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1"/>
          <p:cNvSpPr txBox="1"/>
          <p:nvPr>
            <p:ph type="title"/>
          </p:nvPr>
        </p:nvSpPr>
        <p:spPr>
          <a:xfrm>
            <a:off x="311700" y="216950"/>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800"/>
              </a:spcBef>
              <a:spcAft>
                <a:spcPts val="400"/>
              </a:spcAft>
              <a:buNone/>
            </a:pPr>
            <a:r>
              <a:rPr lang="en" sz="2000">
                <a:solidFill>
                  <a:srgbClr val="222832"/>
                </a:solidFill>
                <a:highlight>
                  <a:srgbClr val="FFFFFF"/>
                </a:highlight>
                <a:latin typeface="Verdana"/>
                <a:ea typeface="Verdana"/>
                <a:cs typeface="Verdana"/>
                <a:sym typeface="Verdana"/>
              </a:rPr>
              <a:t>OPTICS (ORDERING POINTS TO IDENTIFY THE CLUSTERING STRUCTURE)</a:t>
            </a:r>
            <a:endParaRPr>
              <a:latin typeface="Verdana"/>
              <a:ea typeface="Verdana"/>
              <a:cs typeface="Verdana"/>
              <a:sym typeface="Verdana"/>
            </a:endParaRPr>
          </a:p>
        </p:txBody>
      </p:sp>
      <p:sp>
        <p:nvSpPr>
          <p:cNvPr id="160" name="Google Shape;160;p31"/>
          <p:cNvSpPr txBox="1"/>
          <p:nvPr>
            <p:ph idx="1" type="body"/>
          </p:nvPr>
        </p:nvSpPr>
        <p:spPr>
          <a:xfrm>
            <a:off x="311700" y="948000"/>
            <a:ext cx="8520600" cy="403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OPTICS</a:t>
            </a:r>
            <a:r>
              <a:rPr lang="en" sz="1200">
                <a:solidFill>
                  <a:schemeClr val="dk1"/>
                </a:solidFill>
                <a:latin typeface="Times New Roman"/>
                <a:ea typeface="Times New Roman"/>
                <a:cs typeface="Times New Roman"/>
                <a:sym typeface="Times New Roman"/>
              </a:rPr>
              <a:t> is an advanced </a:t>
            </a:r>
            <a:r>
              <a:rPr b="1" lang="en" sz="1200">
                <a:solidFill>
                  <a:schemeClr val="dk1"/>
                </a:solidFill>
                <a:latin typeface="Times New Roman"/>
                <a:ea typeface="Times New Roman"/>
                <a:cs typeface="Times New Roman"/>
                <a:sym typeface="Times New Roman"/>
              </a:rPr>
              <a:t>density-based clustering</a:t>
            </a:r>
            <a:r>
              <a:rPr lang="en" sz="1200">
                <a:solidFill>
                  <a:schemeClr val="dk1"/>
                </a:solidFill>
                <a:latin typeface="Times New Roman"/>
                <a:ea typeface="Times New Roman"/>
                <a:cs typeface="Times New Roman"/>
                <a:sym typeface="Times New Roman"/>
              </a:rPr>
              <a:t> algorithm—</a:t>
            </a:r>
            <a:r>
              <a:rPr b="1" lang="en" sz="1200">
                <a:solidFill>
                  <a:schemeClr val="dk1"/>
                </a:solidFill>
                <a:latin typeface="Times New Roman"/>
                <a:ea typeface="Times New Roman"/>
                <a:cs typeface="Times New Roman"/>
                <a:sym typeface="Times New Roman"/>
              </a:rPr>
              <a:t>an extension of DBSCAN</a:t>
            </a:r>
            <a:r>
              <a:rPr lang="en" sz="1200">
                <a:solidFill>
                  <a:schemeClr val="dk1"/>
                </a:solidFill>
                <a:latin typeface="Times New Roman"/>
                <a:ea typeface="Times New Roman"/>
                <a:cs typeface="Times New Roman"/>
                <a:sym typeface="Times New Roman"/>
              </a:rPr>
              <a:t>—that can:</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 sz="1200">
                <a:solidFill>
                  <a:schemeClr val="dk1"/>
                </a:solidFill>
                <a:latin typeface="Times New Roman"/>
                <a:ea typeface="Times New Roman"/>
                <a:cs typeface="Times New Roman"/>
                <a:sym typeface="Times New Roman"/>
              </a:rPr>
              <a:t>Discover clusters of varying density</a:t>
            </a:r>
            <a:br>
              <a:rPr b="1" lang="en" sz="1200">
                <a:solidFill>
                  <a:schemeClr val="dk1"/>
                </a:solidFill>
                <a:latin typeface="Times New Roman"/>
                <a:ea typeface="Times New Roman"/>
                <a:cs typeface="Times New Roman"/>
                <a:sym typeface="Times New Roman"/>
              </a:rPr>
            </a:b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Handle </a:t>
            </a:r>
            <a:r>
              <a:rPr b="1" lang="en" sz="1200">
                <a:solidFill>
                  <a:schemeClr val="dk1"/>
                </a:solidFill>
                <a:latin typeface="Times New Roman"/>
                <a:ea typeface="Times New Roman"/>
                <a:cs typeface="Times New Roman"/>
                <a:sym typeface="Times New Roman"/>
              </a:rPr>
              <a:t>arbitrary cluster shapes</a:t>
            </a:r>
            <a:br>
              <a:rPr b="1" lang="en" sz="1200">
                <a:solidFill>
                  <a:schemeClr val="dk1"/>
                </a:solidFill>
                <a:latin typeface="Times New Roman"/>
                <a:ea typeface="Times New Roman"/>
                <a:cs typeface="Times New Roman"/>
                <a:sym typeface="Times New Roman"/>
              </a:rPr>
            </a:b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 sz="1200">
                <a:solidFill>
                  <a:schemeClr val="dk1"/>
                </a:solidFill>
                <a:latin typeface="Times New Roman"/>
                <a:ea typeface="Times New Roman"/>
                <a:cs typeface="Times New Roman"/>
                <a:sym typeface="Times New Roman"/>
              </a:rPr>
              <a:t>Identify noise and outliers</a:t>
            </a:r>
            <a:br>
              <a:rPr b="1" lang="en" sz="1200">
                <a:solidFill>
                  <a:schemeClr val="dk1"/>
                </a:solidFill>
                <a:latin typeface="Times New Roman"/>
                <a:ea typeface="Times New Roman"/>
                <a:cs typeface="Times New Roman"/>
                <a:sym typeface="Times New Roman"/>
              </a:rPr>
            </a:b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Work without needing a single global </a:t>
            </a:r>
            <a:r>
              <a:rPr lang="en" sz="1200">
                <a:solidFill>
                  <a:srgbClr val="188038"/>
                </a:solidFill>
                <a:latin typeface="Times New Roman"/>
                <a:ea typeface="Times New Roman"/>
                <a:cs typeface="Times New Roman"/>
                <a:sym typeface="Times New Roman"/>
              </a:rPr>
              <a:t>eps</a:t>
            </a:r>
            <a:r>
              <a:rPr lang="en" sz="1200">
                <a:solidFill>
                  <a:schemeClr val="dk1"/>
                </a:solidFill>
                <a:latin typeface="Times New Roman"/>
                <a:ea typeface="Times New Roman"/>
                <a:cs typeface="Times New Roman"/>
                <a:sym typeface="Times New Roman"/>
              </a:rPr>
              <a:t> value</a:t>
            </a:r>
            <a:endParaRPr sz="1200">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rPr b="1" lang="en" sz="1200">
                <a:solidFill>
                  <a:schemeClr val="dk1"/>
                </a:solidFill>
                <a:latin typeface="Times New Roman"/>
                <a:ea typeface="Times New Roman"/>
                <a:cs typeface="Times New Roman"/>
                <a:sym typeface="Times New Roman"/>
              </a:rPr>
              <a:t>How It Works:</a:t>
            </a:r>
            <a:endParaRPr b="1"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AutoNum type="arabicPeriod"/>
            </a:pPr>
            <a:r>
              <a:rPr lang="en" sz="1200">
                <a:solidFill>
                  <a:schemeClr val="dk1"/>
                </a:solidFill>
                <a:latin typeface="Times New Roman"/>
                <a:ea typeface="Times New Roman"/>
                <a:cs typeface="Times New Roman"/>
                <a:sym typeface="Times New Roman"/>
              </a:rPr>
              <a:t>Computes </a:t>
            </a:r>
            <a:r>
              <a:rPr b="1" lang="en" sz="1200">
                <a:solidFill>
                  <a:schemeClr val="dk1"/>
                </a:solidFill>
                <a:latin typeface="Times New Roman"/>
                <a:ea typeface="Times New Roman"/>
                <a:cs typeface="Times New Roman"/>
                <a:sym typeface="Times New Roman"/>
              </a:rPr>
              <a:t>reachability distance</a:t>
            </a:r>
            <a:r>
              <a:rPr lang="en" sz="1200">
                <a:solidFill>
                  <a:schemeClr val="dk1"/>
                </a:solidFill>
                <a:latin typeface="Times New Roman"/>
                <a:ea typeface="Times New Roman"/>
                <a:cs typeface="Times New Roman"/>
                <a:sym typeface="Times New Roman"/>
              </a:rPr>
              <a:t> and </a:t>
            </a:r>
            <a:r>
              <a:rPr b="1" lang="en" sz="1200">
                <a:solidFill>
                  <a:schemeClr val="dk1"/>
                </a:solidFill>
                <a:latin typeface="Times New Roman"/>
                <a:ea typeface="Times New Roman"/>
                <a:cs typeface="Times New Roman"/>
                <a:sym typeface="Times New Roman"/>
              </a:rPr>
              <a:t>core distance</a:t>
            </a:r>
            <a:r>
              <a:rPr lang="en" sz="1200">
                <a:solidFill>
                  <a:schemeClr val="dk1"/>
                </a:solidFill>
                <a:latin typeface="Times New Roman"/>
                <a:ea typeface="Times New Roman"/>
                <a:cs typeface="Times New Roman"/>
                <a:sym typeface="Times New Roman"/>
              </a:rPr>
              <a:t> for each point.</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AutoNum type="arabicPeriod"/>
            </a:pPr>
            <a:r>
              <a:rPr lang="en" sz="1200">
                <a:solidFill>
                  <a:schemeClr val="dk1"/>
                </a:solidFill>
                <a:latin typeface="Times New Roman"/>
                <a:ea typeface="Times New Roman"/>
                <a:cs typeface="Times New Roman"/>
                <a:sym typeface="Times New Roman"/>
              </a:rPr>
              <a:t>Creates an </a:t>
            </a:r>
            <a:r>
              <a:rPr b="1" lang="en" sz="1200">
                <a:solidFill>
                  <a:schemeClr val="dk1"/>
                </a:solidFill>
                <a:latin typeface="Times New Roman"/>
                <a:ea typeface="Times New Roman"/>
                <a:cs typeface="Times New Roman"/>
                <a:sym typeface="Times New Roman"/>
              </a:rPr>
              <a:t>ordering of points</a:t>
            </a:r>
            <a:r>
              <a:rPr lang="en" sz="1200">
                <a:solidFill>
                  <a:schemeClr val="dk1"/>
                </a:solidFill>
                <a:latin typeface="Times New Roman"/>
                <a:ea typeface="Times New Roman"/>
                <a:cs typeface="Times New Roman"/>
                <a:sym typeface="Times New Roman"/>
              </a:rPr>
              <a:t> based on density-reachability.</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AutoNum type="arabicPeriod"/>
            </a:pPr>
            <a:r>
              <a:rPr lang="en" sz="1200">
                <a:solidFill>
                  <a:schemeClr val="dk1"/>
                </a:solidFill>
                <a:latin typeface="Times New Roman"/>
                <a:ea typeface="Times New Roman"/>
                <a:cs typeface="Times New Roman"/>
                <a:sym typeface="Times New Roman"/>
              </a:rPr>
              <a:t>Stores the structure in a </a:t>
            </a:r>
            <a:r>
              <a:rPr b="1" lang="en" sz="1200">
                <a:solidFill>
                  <a:schemeClr val="dk1"/>
                </a:solidFill>
                <a:latin typeface="Times New Roman"/>
                <a:ea typeface="Times New Roman"/>
                <a:cs typeface="Times New Roman"/>
                <a:sym typeface="Times New Roman"/>
              </a:rPr>
              <a:t>reachability plot</a:t>
            </a:r>
            <a:r>
              <a:rPr lang="en" sz="1200">
                <a:solidFill>
                  <a:schemeClr val="dk1"/>
                </a:solidFill>
                <a:latin typeface="Times New Roman"/>
                <a:ea typeface="Times New Roman"/>
                <a:cs typeface="Times New Roman"/>
                <a:sym typeface="Times New Roman"/>
              </a:rPr>
              <a:t>.</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AutoNum type="arabicPeriod"/>
            </a:pPr>
            <a:r>
              <a:rPr lang="en" sz="1200">
                <a:solidFill>
                  <a:schemeClr val="dk1"/>
                </a:solidFill>
                <a:latin typeface="Times New Roman"/>
                <a:ea typeface="Times New Roman"/>
                <a:cs typeface="Times New Roman"/>
                <a:sym typeface="Times New Roman"/>
              </a:rPr>
              <a:t>Clusters can be extracted from this plot manually or automatically (using </a:t>
            </a:r>
            <a:r>
              <a:rPr lang="en" sz="1200">
                <a:solidFill>
                  <a:srgbClr val="188038"/>
                </a:solidFill>
                <a:latin typeface="Times New Roman"/>
                <a:ea typeface="Times New Roman"/>
                <a:cs typeface="Times New Roman"/>
                <a:sym typeface="Times New Roman"/>
              </a:rPr>
              <a:t>xi</a:t>
            </a:r>
            <a:r>
              <a:rPr lang="en" sz="1200">
                <a:solidFill>
                  <a:schemeClr val="dk1"/>
                </a:solidFill>
                <a:latin typeface="Times New Roman"/>
                <a:ea typeface="Times New Roman"/>
                <a:cs typeface="Times New Roman"/>
                <a:sym typeface="Times New Roman"/>
              </a:rPr>
              <a:t> parameter).</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latin typeface="Times New Roman"/>
              <a:ea typeface="Times New Roman"/>
              <a:cs typeface="Times New Roman"/>
              <a:sym typeface="Times New Roman"/>
            </a:endParaRPr>
          </a:p>
        </p:txBody>
      </p:sp>
      <p:sp>
        <p:nvSpPr>
          <p:cNvPr id="161" name="Google Shape;161;p31"/>
          <p:cNvSpPr txBox="1"/>
          <p:nvPr/>
        </p:nvSpPr>
        <p:spPr>
          <a:xfrm>
            <a:off x="4742400" y="1360600"/>
            <a:ext cx="4891800" cy="833700"/>
          </a:xfrm>
          <a:prstGeom prst="rect">
            <a:avLst/>
          </a:prstGeom>
          <a:noFill/>
          <a:ln>
            <a:noFill/>
          </a:ln>
          <a:effectLst>
            <a:outerShdw blurRad="57150" rotWithShape="0" algn="bl" dir="5400000" dist="19050">
              <a:srgbClr val="0000FF">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from sklearn.cluster import OPTICS</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OPT = OPTICS(min_samples=2).fit(x)</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y_OPT = OPT.fit_predict(x)</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2"/>
          <p:cNvSpPr txBox="1"/>
          <p:nvPr>
            <p:ph idx="1" type="body"/>
          </p:nvPr>
        </p:nvSpPr>
        <p:spPr>
          <a:xfrm>
            <a:off x="311700" y="39325"/>
            <a:ext cx="8520600" cy="5001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b="1" lang="en" sz="1500">
                <a:solidFill>
                  <a:schemeClr val="dk1"/>
                </a:solidFill>
                <a:latin typeface="Times New Roman"/>
                <a:ea typeface="Times New Roman"/>
                <a:cs typeface="Times New Roman"/>
                <a:sym typeface="Times New Roman"/>
              </a:rPr>
              <a:t>Key Parameters</a:t>
            </a:r>
            <a:r>
              <a:rPr lang="en" sz="1460">
                <a:solidFill>
                  <a:schemeClr val="dk1"/>
                </a:solidFill>
                <a:latin typeface="Times New Roman"/>
                <a:ea typeface="Times New Roman"/>
                <a:cs typeface="Times New Roman"/>
                <a:sym typeface="Times New Roman"/>
              </a:rPr>
              <a:t>:</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770"/>
              <a:buNone/>
            </a:pPr>
            <a:r>
              <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770"/>
              <a:buNone/>
            </a:pPr>
            <a:r>
              <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770"/>
              <a:buNone/>
            </a:pPr>
            <a:r>
              <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770"/>
              <a:buNone/>
            </a:pPr>
            <a:r>
              <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770"/>
              <a:buNone/>
            </a:pPr>
            <a:r>
              <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770"/>
              <a:buNone/>
            </a:pPr>
            <a:r>
              <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770"/>
              <a:buNone/>
            </a:pPr>
            <a:r>
              <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770"/>
              <a:buNone/>
            </a:pPr>
            <a:r>
              <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770"/>
              <a:buFont typeface="Arial"/>
              <a:buNone/>
            </a:pPr>
            <a:r>
              <a:rPr b="1" lang="en" sz="1460">
                <a:solidFill>
                  <a:schemeClr val="dk1"/>
                </a:solidFill>
                <a:latin typeface="Times New Roman"/>
                <a:ea typeface="Times New Roman"/>
                <a:cs typeface="Times New Roman"/>
                <a:sym typeface="Times New Roman"/>
              </a:rPr>
              <a:t>Applications</a:t>
            </a:r>
            <a:r>
              <a:rPr lang="en" sz="1460">
                <a:solidFill>
                  <a:schemeClr val="dk1"/>
                </a:solidFill>
                <a:latin typeface="Times New Roman"/>
                <a:ea typeface="Times New Roman"/>
                <a:cs typeface="Times New Roman"/>
                <a:sym typeface="Times New Roman"/>
              </a:rPr>
              <a:t>:</a:t>
            </a:r>
            <a:endParaRPr sz="1460">
              <a:solidFill>
                <a:schemeClr val="dk1"/>
              </a:solidFill>
              <a:latin typeface="Times New Roman"/>
              <a:ea typeface="Times New Roman"/>
              <a:cs typeface="Times New Roman"/>
              <a:sym typeface="Times New Roman"/>
            </a:endParaRPr>
          </a:p>
          <a:p>
            <a:pPr indent="-321310" lvl="0" marL="457200" rtl="0" algn="l">
              <a:lnSpc>
                <a:spcPct val="95000"/>
              </a:lnSpc>
              <a:spcBef>
                <a:spcPts val="1200"/>
              </a:spcBef>
              <a:spcAft>
                <a:spcPts val="0"/>
              </a:spcAft>
              <a:buClr>
                <a:schemeClr val="dk1"/>
              </a:buClr>
              <a:buSzPts val="1460"/>
              <a:buFont typeface="Times New Roman"/>
              <a:buChar char="❖"/>
            </a:pPr>
            <a:r>
              <a:rPr lang="en" sz="1460">
                <a:solidFill>
                  <a:schemeClr val="dk1"/>
                </a:solidFill>
                <a:latin typeface="Times New Roman"/>
                <a:ea typeface="Times New Roman"/>
                <a:cs typeface="Times New Roman"/>
                <a:sym typeface="Times New Roman"/>
              </a:rPr>
              <a:t>Customer segmentation</a:t>
            </a:r>
            <a:endParaRPr sz="1460">
              <a:solidFill>
                <a:schemeClr val="dk1"/>
              </a:solidFill>
              <a:latin typeface="Times New Roman"/>
              <a:ea typeface="Times New Roman"/>
              <a:cs typeface="Times New Roman"/>
              <a:sym typeface="Times New Roman"/>
            </a:endParaRPr>
          </a:p>
          <a:p>
            <a:pPr indent="-321310" lvl="0" marL="457200" rtl="0" algn="l">
              <a:lnSpc>
                <a:spcPct val="95000"/>
              </a:lnSpc>
              <a:spcBef>
                <a:spcPts val="0"/>
              </a:spcBef>
              <a:spcAft>
                <a:spcPts val="0"/>
              </a:spcAft>
              <a:buClr>
                <a:schemeClr val="dk1"/>
              </a:buClr>
              <a:buSzPts val="1460"/>
              <a:buFont typeface="Times New Roman"/>
              <a:buChar char="❖"/>
            </a:pPr>
            <a:r>
              <a:rPr lang="en" sz="1460">
                <a:solidFill>
                  <a:schemeClr val="dk1"/>
                </a:solidFill>
                <a:latin typeface="Times New Roman"/>
                <a:ea typeface="Times New Roman"/>
                <a:cs typeface="Times New Roman"/>
                <a:sym typeface="Times New Roman"/>
              </a:rPr>
              <a:t>Geospatial data clustering (e.g., earthquakes, crime spots)</a:t>
            </a:r>
            <a:endParaRPr sz="1460">
              <a:solidFill>
                <a:schemeClr val="dk1"/>
              </a:solidFill>
              <a:latin typeface="Times New Roman"/>
              <a:ea typeface="Times New Roman"/>
              <a:cs typeface="Times New Roman"/>
              <a:sym typeface="Times New Roman"/>
            </a:endParaRPr>
          </a:p>
          <a:p>
            <a:pPr indent="-321310" lvl="0" marL="457200" rtl="0" algn="l">
              <a:lnSpc>
                <a:spcPct val="95000"/>
              </a:lnSpc>
              <a:spcBef>
                <a:spcPts val="0"/>
              </a:spcBef>
              <a:spcAft>
                <a:spcPts val="0"/>
              </a:spcAft>
              <a:buClr>
                <a:schemeClr val="dk1"/>
              </a:buClr>
              <a:buSzPts val="1460"/>
              <a:buFont typeface="Times New Roman"/>
              <a:buChar char="❖"/>
            </a:pPr>
            <a:r>
              <a:rPr lang="en" sz="1460">
                <a:solidFill>
                  <a:schemeClr val="dk1"/>
                </a:solidFill>
                <a:latin typeface="Times New Roman"/>
                <a:ea typeface="Times New Roman"/>
                <a:cs typeface="Times New Roman"/>
                <a:sym typeface="Times New Roman"/>
              </a:rPr>
              <a:t>Social network/community detection</a:t>
            </a:r>
            <a:endParaRPr sz="1460">
              <a:solidFill>
                <a:schemeClr val="dk1"/>
              </a:solidFill>
              <a:latin typeface="Times New Roman"/>
              <a:ea typeface="Times New Roman"/>
              <a:cs typeface="Times New Roman"/>
              <a:sym typeface="Times New Roman"/>
            </a:endParaRPr>
          </a:p>
          <a:p>
            <a:pPr indent="-321310" lvl="0" marL="457200" rtl="0" algn="l">
              <a:lnSpc>
                <a:spcPct val="95000"/>
              </a:lnSpc>
              <a:spcBef>
                <a:spcPts val="0"/>
              </a:spcBef>
              <a:spcAft>
                <a:spcPts val="0"/>
              </a:spcAft>
              <a:buClr>
                <a:schemeClr val="dk1"/>
              </a:buClr>
              <a:buSzPts val="1460"/>
              <a:buFont typeface="Times New Roman"/>
              <a:buChar char="❖"/>
            </a:pPr>
            <a:r>
              <a:rPr lang="en" sz="1460">
                <a:solidFill>
                  <a:schemeClr val="dk1"/>
                </a:solidFill>
                <a:latin typeface="Times New Roman"/>
                <a:ea typeface="Times New Roman"/>
                <a:cs typeface="Times New Roman"/>
                <a:sym typeface="Times New Roman"/>
              </a:rPr>
              <a:t>Anomaly detection</a:t>
            </a:r>
            <a:endParaRPr sz="146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770"/>
              <a:buNone/>
            </a:pPr>
            <a:r>
              <a:t/>
            </a:r>
            <a:endParaRPr sz="1460">
              <a:solidFill>
                <a:schemeClr val="dk1"/>
              </a:solidFill>
              <a:latin typeface="Times New Roman"/>
              <a:ea typeface="Times New Roman"/>
              <a:cs typeface="Times New Roman"/>
              <a:sym typeface="Times New Roman"/>
            </a:endParaRPr>
          </a:p>
        </p:txBody>
      </p:sp>
      <p:graphicFrame>
        <p:nvGraphicFramePr>
          <p:cNvPr id="167" name="Google Shape;167;p32"/>
          <p:cNvGraphicFramePr/>
          <p:nvPr/>
        </p:nvGraphicFramePr>
        <p:xfrm>
          <a:off x="834550" y="699075"/>
          <a:ext cx="3000000" cy="3000000"/>
        </p:xfrm>
        <a:graphic>
          <a:graphicData uri="http://schemas.openxmlformats.org/drawingml/2006/table">
            <a:tbl>
              <a:tblPr>
                <a:noFill/>
                <a:tableStyleId>{62DB2527-0E68-427E-8E4B-80A872B4F275}</a:tableStyleId>
              </a:tblPr>
              <a:tblGrid>
                <a:gridCol w="1700525"/>
                <a:gridCol w="5538475"/>
              </a:tblGrid>
              <a:tr h="381000">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Parameters</a:t>
                      </a:r>
                      <a:endParaRPr b="1"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Description</a:t>
                      </a:r>
                      <a:endParaRPr b="1" sz="15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min_samples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Minimum number of points in a cluster</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xi</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Determines steepness for cluster separation</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min_cluster_size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Can be absolute number or fraction (e.g., 0.05)</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metric</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Distance metric (e.g., 'euclidean')</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eps (optional)</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Max radius to consider neighbors (default = inf)</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3"/>
          <p:cNvSpPr txBox="1"/>
          <p:nvPr>
            <p:ph idx="1" type="body"/>
          </p:nvPr>
        </p:nvSpPr>
        <p:spPr>
          <a:xfrm>
            <a:off x="311700" y="94375"/>
            <a:ext cx="8520600" cy="447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PROS:</a:t>
            </a:r>
            <a:endParaRPr>
              <a:solidFill>
                <a:schemeClr val="dk1"/>
              </a:solidFill>
              <a:latin typeface="Times New Roman"/>
              <a:ea typeface="Times New Roman"/>
              <a:cs typeface="Times New Roman"/>
              <a:sym typeface="Times New Roman"/>
            </a:endParaRPr>
          </a:p>
          <a:p>
            <a:pPr indent="-228600" lvl="0" marL="190500" marR="63500" rtl="0" algn="l">
              <a:lnSpc>
                <a:spcPct val="137500"/>
              </a:lnSpc>
              <a:spcBef>
                <a:spcPts val="120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Handles varying densities: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Unlike algorithms like DBSCAN that require a uniform epsilon (distance parameter), OPTICS can identify clusters with vastly different densities within the same dataset.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Detects noise and outliers: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OPTICS effectively identifies data points that don't belong to any cluster, making it useful for outlier detection.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Hierarchical clustering structure:</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OPTICS produces a reachability plot that allows for visualizing the hierarchical structure of clusters, enabling analysis at different levels of granularity.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Flexibility:</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It doesn't require a predefined number of clusters and can identify clusters of various shapes and sizes.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Improved cluster extraction:</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The reachability plot allows for more informed cluster extraction, especially when dealing with complex datasets.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txBox="1"/>
          <p:nvPr>
            <p:ph idx="1" type="body"/>
          </p:nvPr>
        </p:nvSpPr>
        <p:spPr>
          <a:xfrm>
            <a:off x="311700" y="117975"/>
            <a:ext cx="8520600" cy="485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CONS:</a:t>
            </a:r>
            <a:endParaRPr>
              <a:solidFill>
                <a:schemeClr val="dk1"/>
              </a:solidFill>
              <a:latin typeface="Times New Roman"/>
              <a:ea typeface="Times New Roman"/>
              <a:cs typeface="Times New Roman"/>
              <a:sym typeface="Times New Roman"/>
            </a:endParaRPr>
          </a:p>
          <a:p>
            <a:pPr indent="-228600" lvl="0" marL="190500" marR="63500" rtl="0" algn="l">
              <a:lnSpc>
                <a:spcPct val="137500"/>
              </a:lnSpc>
              <a:spcBef>
                <a:spcPts val="120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High computational cost:</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OPTICS can be computationally expensive, especially on large datasets, due to the need to calculate reachability distances for all data points.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Parameter sensitivity:</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OPTICS is sensitive to parameter settings, such as the </a:t>
            </a:r>
            <a:r>
              <a:rPr lang="en" sz="1200">
                <a:solidFill>
                  <a:schemeClr val="dk1"/>
                </a:solidFill>
                <a:highlight>
                  <a:srgbClr val="E5EDFF"/>
                </a:highlight>
                <a:latin typeface="Times New Roman"/>
                <a:ea typeface="Times New Roman"/>
                <a:cs typeface="Times New Roman"/>
                <a:sym typeface="Times New Roman"/>
              </a:rPr>
              <a:t>minPts</a:t>
            </a:r>
            <a:r>
              <a:rPr lang="en" sz="1200">
                <a:solidFill>
                  <a:schemeClr val="dk1"/>
                </a:solidFill>
                <a:highlight>
                  <a:srgbClr val="FFFFFF"/>
                </a:highlight>
                <a:latin typeface="Times New Roman"/>
                <a:ea typeface="Times New Roman"/>
                <a:cs typeface="Times New Roman"/>
                <a:sym typeface="Times New Roman"/>
              </a:rPr>
              <a:t> (minimum number of points) and the distance metric, which can impact the quality of the clusters.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Requires dimensionality reduction:</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High-dimensional data can pose challenges for OPTICS, and dimensionality reduction techniques may be necessary to improve performance and interpretability. </a:t>
            </a:r>
            <a:endParaRPr sz="12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200"/>
              <a:buNone/>
            </a:pPr>
            <a:r>
              <a:rPr b="1" lang="en" sz="1200">
                <a:solidFill>
                  <a:schemeClr val="dk1"/>
                </a:solidFill>
                <a:highlight>
                  <a:srgbClr val="FFFFFF"/>
                </a:highlight>
                <a:latin typeface="Times New Roman"/>
                <a:ea typeface="Times New Roman"/>
                <a:cs typeface="Times New Roman"/>
                <a:sym typeface="Times New Roman"/>
              </a:rPr>
              <a:t>Not as scalable as some other algorithms:</a:t>
            </a:r>
            <a:br>
              <a:rPr b="1" lang="en" sz="1200">
                <a:solidFill>
                  <a:schemeClr val="dk1"/>
                </a:solidFill>
                <a:highlight>
                  <a:srgbClr val="FFFFFF"/>
                </a:highlight>
                <a:latin typeface="Times New Roman"/>
                <a:ea typeface="Times New Roman"/>
                <a:cs typeface="Times New Roman"/>
                <a:sym typeface="Times New Roman"/>
              </a:rPr>
            </a:br>
            <a:r>
              <a:rPr lang="en" sz="1200">
                <a:solidFill>
                  <a:schemeClr val="dk1"/>
                </a:solidFill>
                <a:highlight>
                  <a:srgbClr val="FFFFFF"/>
                </a:highlight>
                <a:latin typeface="Times New Roman"/>
                <a:ea typeface="Times New Roman"/>
                <a:cs typeface="Times New Roman"/>
                <a:sym typeface="Times New Roman"/>
              </a:rPr>
              <a:t>Compared to some other clustering methods, OPTICS might not scale as well to extremely large datasets.</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5"/>
          <p:cNvSpPr txBox="1"/>
          <p:nvPr>
            <p:ph type="title"/>
          </p:nvPr>
        </p:nvSpPr>
        <p:spPr>
          <a:xfrm>
            <a:off x="256625" y="75377"/>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800"/>
              </a:spcBef>
              <a:spcAft>
                <a:spcPts val="400"/>
              </a:spcAft>
              <a:buSzPts val="990"/>
              <a:buNone/>
            </a:pPr>
            <a:r>
              <a:rPr lang="en" sz="1800">
                <a:solidFill>
                  <a:srgbClr val="222832"/>
                </a:solidFill>
                <a:highlight>
                  <a:srgbClr val="FFFFFF"/>
                </a:highlight>
                <a:latin typeface="Verdana"/>
                <a:ea typeface="Verdana"/>
                <a:cs typeface="Verdana"/>
                <a:sym typeface="Verdana"/>
              </a:rPr>
              <a:t>BIRCH (BALANCED ITERATIVE REDUCING AND CLUSTERING USING HIERARCHIES)</a:t>
            </a:r>
            <a:endParaRPr sz="1800">
              <a:latin typeface="Verdana"/>
              <a:ea typeface="Verdana"/>
              <a:cs typeface="Verdana"/>
              <a:sym typeface="Verdana"/>
            </a:endParaRPr>
          </a:p>
        </p:txBody>
      </p:sp>
      <p:sp>
        <p:nvSpPr>
          <p:cNvPr id="183" name="Google Shape;183;p35"/>
          <p:cNvSpPr txBox="1"/>
          <p:nvPr>
            <p:ph idx="1" type="body"/>
          </p:nvPr>
        </p:nvSpPr>
        <p:spPr>
          <a:xfrm>
            <a:off x="311700" y="1238975"/>
            <a:ext cx="8520600" cy="3865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100">
                <a:solidFill>
                  <a:schemeClr val="dk1"/>
                </a:solidFill>
                <a:latin typeface="Times New Roman"/>
                <a:ea typeface="Times New Roman"/>
                <a:cs typeface="Times New Roman"/>
                <a:sym typeface="Times New Roman"/>
              </a:rPr>
              <a:t>BIRCH</a:t>
            </a:r>
            <a:r>
              <a:rPr lang="en" sz="1100">
                <a:solidFill>
                  <a:schemeClr val="dk1"/>
                </a:solidFill>
                <a:latin typeface="Times New Roman"/>
                <a:ea typeface="Times New Roman"/>
                <a:cs typeface="Times New Roman"/>
                <a:sym typeface="Times New Roman"/>
              </a:rPr>
              <a:t> is a </a:t>
            </a:r>
            <a:r>
              <a:rPr b="1" lang="en" sz="1100">
                <a:solidFill>
                  <a:schemeClr val="dk1"/>
                </a:solidFill>
                <a:latin typeface="Times New Roman"/>
                <a:ea typeface="Times New Roman"/>
                <a:cs typeface="Times New Roman"/>
                <a:sym typeface="Times New Roman"/>
              </a:rPr>
              <a:t>hierarchical clustering</a:t>
            </a:r>
            <a:r>
              <a:rPr lang="en" sz="1100">
                <a:solidFill>
                  <a:schemeClr val="dk1"/>
                </a:solidFill>
                <a:latin typeface="Times New Roman"/>
                <a:ea typeface="Times New Roman"/>
                <a:cs typeface="Times New Roman"/>
                <a:sym typeface="Times New Roman"/>
              </a:rPr>
              <a:t> algorithm specifically designed for </a:t>
            </a:r>
            <a:r>
              <a:rPr b="1" lang="en" sz="1100">
                <a:solidFill>
                  <a:schemeClr val="dk1"/>
                </a:solidFill>
                <a:latin typeface="Times New Roman"/>
                <a:ea typeface="Times New Roman"/>
                <a:cs typeface="Times New Roman"/>
                <a:sym typeface="Times New Roman"/>
              </a:rPr>
              <a:t>large datasets</a:t>
            </a:r>
            <a:r>
              <a:rPr lang="en" sz="1100">
                <a:solidFill>
                  <a:schemeClr val="dk1"/>
                </a:solidFill>
                <a:latin typeface="Times New Roman"/>
                <a:ea typeface="Times New Roman"/>
                <a:cs typeface="Times New Roman"/>
                <a:sym typeface="Times New Roman"/>
              </a:rPr>
              <a:t>. It's fast and memory-efficient because it builds a </a:t>
            </a:r>
            <a:r>
              <a:rPr b="1" lang="en" sz="1100">
                <a:solidFill>
                  <a:schemeClr val="dk1"/>
                </a:solidFill>
                <a:latin typeface="Times New Roman"/>
                <a:ea typeface="Times New Roman"/>
                <a:cs typeface="Times New Roman"/>
                <a:sym typeface="Times New Roman"/>
              </a:rPr>
              <a:t>compact tree structure</a:t>
            </a:r>
            <a:r>
              <a:rPr lang="en" sz="1100">
                <a:solidFill>
                  <a:schemeClr val="dk1"/>
                </a:solidFill>
                <a:latin typeface="Times New Roman"/>
                <a:ea typeface="Times New Roman"/>
                <a:cs typeface="Times New Roman"/>
                <a:sym typeface="Times New Roman"/>
              </a:rPr>
              <a:t> (called a </a:t>
            </a:r>
            <a:r>
              <a:rPr b="1" lang="en" sz="1100">
                <a:solidFill>
                  <a:schemeClr val="dk1"/>
                </a:solidFill>
                <a:latin typeface="Times New Roman"/>
                <a:ea typeface="Times New Roman"/>
                <a:cs typeface="Times New Roman"/>
                <a:sym typeface="Times New Roman"/>
              </a:rPr>
              <a:t>CF tree</a:t>
            </a:r>
            <a:r>
              <a:rPr lang="en" sz="1100">
                <a:solidFill>
                  <a:schemeClr val="dk1"/>
                </a:solidFill>
                <a:latin typeface="Times New Roman"/>
                <a:ea typeface="Times New Roman"/>
                <a:cs typeface="Times New Roman"/>
                <a:sym typeface="Times New Roman"/>
              </a:rPr>
              <a:t>) that summarizes the data.</a:t>
            </a:r>
            <a:endParaRPr sz="11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How It Works:</a:t>
            </a:r>
            <a:endParaRPr b="1" sz="13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AutoNum type="arabicPeriod"/>
            </a:pPr>
            <a:r>
              <a:rPr b="1" lang="en" sz="1100">
                <a:solidFill>
                  <a:schemeClr val="dk1"/>
                </a:solidFill>
                <a:latin typeface="Times New Roman"/>
                <a:ea typeface="Times New Roman"/>
                <a:cs typeface="Times New Roman"/>
                <a:sym typeface="Times New Roman"/>
              </a:rPr>
              <a:t>Builds a CF Tree</a:t>
            </a:r>
            <a:r>
              <a:rPr lang="en" sz="1100">
                <a:solidFill>
                  <a:schemeClr val="dk1"/>
                </a:solidFill>
                <a:latin typeface="Times New Roman"/>
                <a:ea typeface="Times New Roman"/>
                <a:cs typeface="Times New Roman"/>
                <a:sym typeface="Times New Roman"/>
              </a:rPr>
              <a:t>:</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Each node (cluster feature or CF) stores summary info: number of points, linear sum, and square sum.</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New points are inserted into the closest CF node.</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AutoNum type="arabicPeriod"/>
            </a:pPr>
            <a:r>
              <a:rPr b="1" lang="en" sz="1100">
                <a:solidFill>
                  <a:schemeClr val="dk1"/>
                </a:solidFill>
                <a:latin typeface="Times New Roman"/>
                <a:ea typeface="Times New Roman"/>
                <a:cs typeface="Times New Roman"/>
                <a:sym typeface="Times New Roman"/>
              </a:rPr>
              <a:t>Thresholding</a:t>
            </a:r>
            <a:r>
              <a:rPr lang="en" sz="1100">
                <a:solidFill>
                  <a:schemeClr val="dk1"/>
                </a:solidFill>
                <a:latin typeface="Times New Roman"/>
                <a:ea typeface="Times New Roman"/>
                <a:cs typeface="Times New Roman"/>
                <a:sym typeface="Times New Roman"/>
              </a:rPr>
              <a:t>:</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Char char="○"/>
            </a:pPr>
            <a:r>
              <a:rPr lang="en" sz="1100">
                <a:solidFill>
                  <a:schemeClr val="dk1"/>
                </a:solidFill>
                <a:latin typeface="Times New Roman"/>
                <a:ea typeface="Times New Roman"/>
                <a:cs typeface="Times New Roman"/>
                <a:sym typeface="Times New Roman"/>
              </a:rPr>
              <a:t>If a new point is too far from existing CFs (based on threshold), a new CF is created.</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Keeps the tree balanced and within memory limits.</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AutoNum type="arabicPeriod"/>
            </a:pPr>
            <a:r>
              <a:rPr b="1" lang="en" sz="1100">
                <a:solidFill>
                  <a:schemeClr val="dk1"/>
                </a:solidFill>
                <a:latin typeface="Times New Roman"/>
                <a:ea typeface="Times New Roman"/>
                <a:cs typeface="Times New Roman"/>
                <a:sym typeface="Times New Roman"/>
              </a:rPr>
              <a:t>Final Clustering</a:t>
            </a:r>
            <a:r>
              <a:rPr lang="en" sz="1100">
                <a:solidFill>
                  <a:schemeClr val="dk1"/>
                </a:solidFill>
                <a:latin typeface="Times New Roman"/>
                <a:ea typeface="Times New Roman"/>
                <a:cs typeface="Times New Roman"/>
                <a:sym typeface="Times New Roman"/>
              </a:rPr>
              <a:t>:</a:t>
            </a:r>
            <a:br>
              <a:rPr lang="en"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Char char="○"/>
            </a:pPr>
            <a:r>
              <a:rPr lang="en" sz="1100">
                <a:solidFill>
                  <a:schemeClr val="dk1"/>
                </a:solidFill>
                <a:latin typeface="Times New Roman"/>
                <a:ea typeface="Times New Roman"/>
                <a:cs typeface="Times New Roman"/>
                <a:sym typeface="Times New Roman"/>
              </a:rPr>
              <a:t>Optionally, K-Means or another clustering method is applied on the </a:t>
            </a:r>
            <a:r>
              <a:rPr b="1" lang="en" sz="1100">
                <a:solidFill>
                  <a:schemeClr val="dk1"/>
                </a:solidFill>
                <a:latin typeface="Times New Roman"/>
                <a:ea typeface="Times New Roman"/>
                <a:cs typeface="Times New Roman"/>
                <a:sym typeface="Times New Roman"/>
              </a:rPr>
              <a:t>leaf nodes</a:t>
            </a:r>
            <a:r>
              <a:rPr lang="en"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100">
              <a:solidFill>
                <a:schemeClr val="dk1"/>
              </a:solidFill>
              <a:latin typeface="Times New Roman"/>
              <a:ea typeface="Times New Roman"/>
              <a:cs typeface="Times New Roman"/>
              <a:sym typeface="Times New Roman"/>
            </a:endParaRPr>
          </a:p>
        </p:txBody>
      </p:sp>
      <p:sp>
        <p:nvSpPr>
          <p:cNvPr id="184" name="Google Shape;184;p35"/>
          <p:cNvSpPr txBox="1"/>
          <p:nvPr/>
        </p:nvSpPr>
        <p:spPr>
          <a:xfrm>
            <a:off x="2724312" y="677099"/>
            <a:ext cx="4152600" cy="692100"/>
          </a:xfrm>
          <a:prstGeom prst="rect">
            <a:avLst/>
          </a:prstGeom>
          <a:noFill/>
          <a:ln>
            <a:noFill/>
          </a:ln>
          <a:effectLst>
            <a:outerShdw blurRad="57150" rotWithShape="0" algn="bl" dir="5400000" dist="19050">
              <a:srgbClr val="0000FF">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from sklearn.cluster import Birch</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2"/>
                </a:solidFill>
                <a:latin typeface="Times New Roman"/>
                <a:ea typeface="Times New Roman"/>
                <a:cs typeface="Times New Roman"/>
                <a:sym typeface="Times New Roman"/>
              </a:rPr>
              <a:t>birc = Birch(n_clusters=None).fit(x)</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2"/>
                </a:solidFill>
                <a:latin typeface="Times New Roman"/>
                <a:ea typeface="Times New Roman"/>
                <a:cs typeface="Times New Roman"/>
                <a:sym typeface="Times New Roman"/>
              </a:rPr>
              <a:t>y_birc = birc.fit_predict(x)</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idx="1" type="body"/>
          </p:nvPr>
        </p:nvSpPr>
        <p:spPr>
          <a:xfrm>
            <a:off x="429675" y="90750"/>
            <a:ext cx="8520600" cy="49191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Key Parameters</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Applications:</a:t>
            </a:r>
            <a:endParaRPr sz="1900">
              <a:solidFill>
                <a:schemeClr val="dk1"/>
              </a:solidFill>
              <a:latin typeface="Times New Roman"/>
              <a:ea typeface="Times New Roman"/>
              <a:cs typeface="Times New Roman"/>
              <a:sym typeface="Times New Roman"/>
            </a:endParaRPr>
          </a:p>
          <a:p>
            <a:pPr indent="-317182" lvl="0" marL="457200" rtl="0" algn="l">
              <a:spcBef>
                <a:spcPts val="12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Customer segmentation on large datasets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17182"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Real-time log/event stream clustering</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17182"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Preprocessing for other clustering algorithms (like K-Means)</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graphicFrame>
        <p:nvGraphicFramePr>
          <p:cNvPr id="190" name="Google Shape;190;p36"/>
          <p:cNvGraphicFramePr/>
          <p:nvPr/>
        </p:nvGraphicFramePr>
        <p:xfrm>
          <a:off x="787350" y="669375"/>
          <a:ext cx="3000000" cy="3000000"/>
        </p:xfrm>
        <a:graphic>
          <a:graphicData uri="http://schemas.openxmlformats.org/drawingml/2006/table">
            <a:tbl>
              <a:tblPr>
                <a:noFill/>
                <a:tableStyleId>{62DB2527-0E68-427E-8E4B-80A872B4F275}</a:tableStyleId>
              </a:tblPr>
              <a:tblGrid>
                <a:gridCol w="1889275"/>
                <a:gridCol w="5349725"/>
              </a:tblGrid>
              <a:tr h="381000">
                <a:tc>
                  <a:txBody>
                    <a:bodyPr/>
                    <a:lstStyle/>
                    <a:p>
                      <a:pPr indent="0" lvl="0" marL="0" rtl="0" algn="l">
                        <a:spcBef>
                          <a:spcPts val="0"/>
                        </a:spcBef>
                        <a:spcAft>
                          <a:spcPts val="0"/>
                        </a:spcAft>
                        <a:buNone/>
                      </a:pPr>
                      <a:r>
                        <a:rPr b="1" lang="en" sz="1500"/>
                        <a:t>Parameter</a:t>
                      </a:r>
                      <a:endParaRPr b="1" sz="1500"/>
                    </a:p>
                  </a:txBody>
                  <a:tcPr marT="91425" marB="91425" marR="91425" marL="91425"/>
                </a:tc>
                <a:tc>
                  <a:txBody>
                    <a:bodyPr/>
                    <a:lstStyle/>
                    <a:p>
                      <a:pPr indent="0" lvl="0" marL="0" rtl="0" algn="l">
                        <a:spcBef>
                          <a:spcPts val="0"/>
                        </a:spcBef>
                        <a:spcAft>
                          <a:spcPts val="0"/>
                        </a:spcAft>
                        <a:buNone/>
                      </a:pPr>
                      <a:r>
                        <a:rPr b="1" lang="en" sz="1500"/>
                        <a:t>Description</a:t>
                      </a:r>
                      <a:endParaRPr b="1" sz="1500"/>
                    </a:p>
                  </a:txBody>
                  <a:tcPr marT="91425" marB="91425" marR="91425" marL="91425"/>
                </a:tc>
              </a:tr>
              <a:tr h="381000">
                <a:tc>
                  <a:txBody>
                    <a:bodyPr/>
                    <a:lstStyle/>
                    <a:p>
                      <a:pPr indent="0" lvl="0" marL="0" rtl="0" algn="l">
                        <a:spcBef>
                          <a:spcPts val="0"/>
                        </a:spcBef>
                        <a:spcAft>
                          <a:spcPts val="0"/>
                        </a:spcAft>
                        <a:buNone/>
                      </a:pPr>
                      <a:r>
                        <a:rPr lang="en"/>
                        <a:t>threshold</a:t>
                      </a:r>
                      <a:endParaRPr/>
                    </a:p>
                  </a:txBody>
                  <a:tcPr marT="91425" marB="91425" marR="91425" marL="91425"/>
                </a:tc>
                <a:tc>
                  <a:txBody>
                    <a:bodyPr/>
                    <a:lstStyle/>
                    <a:p>
                      <a:pPr indent="0" lvl="0" marL="0" rtl="0" algn="l">
                        <a:spcBef>
                          <a:spcPts val="0"/>
                        </a:spcBef>
                        <a:spcAft>
                          <a:spcPts val="0"/>
                        </a:spcAft>
                        <a:buNone/>
                      </a:pPr>
                      <a:r>
                        <a:rPr lang="en"/>
                        <a:t>Max distance between points in a cluster (controls compactness)</a:t>
                      </a:r>
                      <a:endParaRPr/>
                    </a:p>
                  </a:txBody>
                  <a:tcPr marT="91425" marB="91425" marR="91425" marL="91425"/>
                </a:tc>
              </a:tr>
              <a:tr h="381000">
                <a:tc>
                  <a:txBody>
                    <a:bodyPr/>
                    <a:lstStyle/>
                    <a:p>
                      <a:pPr indent="0" lvl="0" marL="0" rtl="0" algn="l">
                        <a:spcBef>
                          <a:spcPts val="0"/>
                        </a:spcBef>
                        <a:spcAft>
                          <a:spcPts val="0"/>
                        </a:spcAft>
                        <a:buNone/>
                      </a:pPr>
                      <a:r>
                        <a:rPr lang="en"/>
                        <a:t>branching_factor</a:t>
                      </a:r>
                      <a:endParaRPr/>
                    </a:p>
                  </a:txBody>
                  <a:tcPr marT="91425" marB="91425" marR="91425" marL="91425"/>
                </a:tc>
                <a:tc>
                  <a:txBody>
                    <a:bodyPr/>
                    <a:lstStyle/>
                    <a:p>
                      <a:pPr indent="0" lvl="0" marL="0" rtl="0" algn="l">
                        <a:spcBef>
                          <a:spcPts val="0"/>
                        </a:spcBef>
                        <a:spcAft>
                          <a:spcPts val="0"/>
                        </a:spcAft>
                        <a:buNone/>
                      </a:pPr>
                      <a:r>
                        <a:rPr lang="en"/>
                        <a:t>Max children per node in CF tree (default = 50)</a:t>
                      </a:r>
                      <a:endParaRPr/>
                    </a:p>
                  </a:txBody>
                  <a:tcPr marT="91425" marB="91425" marR="91425" marL="91425"/>
                </a:tc>
              </a:tr>
              <a:tr h="381000">
                <a:tc>
                  <a:txBody>
                    <a:bodyPr/>
                    <a:lstStyle/>
                    <a:p>
                      <a:pPr indent="0" lvl="0" marL="0" rtl="0" algn="l">
                        <a:spcBef>
                          <a:spcPts val="0"/>
                        </a:spcBef>
                        <a:spcAft>
                          <a:spcPts val="0"/>
                        </a:spcAft>
                        <a:buNone/>
                      </a:pPr>
                      <a:r>
                        <a:rPr lang="en"/>
                        <a:t>n_clusters</a:t>
                      </a:r>
                      <a:endParaRPr/>
                    </a:p>
                  </a:txBody>
                  <a:tcPr marT="91425" marB="91425" marR="91425" marL="91425"/>
                </a:tc>
                <a:tc>
                  <a:txBody>
                    <a:bodyPr/>
                    <a:lstStyle/>
                    <a:p>
                      <a:pPr indent="0" lvl="0" marL="0" rtl="0" algn="l">
                        <a:spcBef>
                          <a:spcPts val="0"/>
                        </a:spcBef>
                        <a:spcAft>
                          <a:spcPts val="0"/>
                        </a:spcAft>
                        <a:buNone/>
                      </a:pPr>
                      <a:r>
                        <a:rPr lang="en"/>
                        <a:t>Final clustering method:</a:t>
                      </a:r>
                      <a:endParaRPr/>
                    </a:p>
                    <a:p>
                      <a:pPr indent="-298450" lvl="0" marL="457200" rtl="0" algn="l">
                        <a:spcBef>
                          <a:spcPts val="0"/>
                        </a:spcBef>
                        <a:spcAft>
                          <a:spcPts val="0"/>
                        </a:spcAft>
                        <a:buSzPts val="1100"/>
                        <a:buChar char="➔"/>
                      </a:pPr>
                      <a:r>
                        <a:rPr lang="en" sz="1100">
                          <a:solidFill>
                            <a:srgbClr val="188038"/>
                          </a:solidFill>
                          <a:latin typeface="Roboto Mono"/>
                          <a:ea typeface="Roboto Mono"/>
                          <a:cs typeface="Roboto Mono"/>
                          <a:sym typeface="Roboto Mono"/>
                        </a:rPr>
                        <a:t>None</a:t>
                      </a:r>
                      <a:r>
                        <a:rPr lang="en" sz="1100">
                          <a:solidFill>
                            <a:schemeClr val="dk1"/>
                          </a:solidFill>
                        </a:rPr>
                        <a:t> → returns leaf CFs as clusters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Integer → applies K-Means on CFs</a:t>
                      </a:r>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7"/>
          <p:cNvSpPr txBox="1"/>
          <p:nvPr>
            <p:ph idx="1" type="body"/>
          </p:nvPr>
        </p:nvSpPr>
        <p:spPr>
          <a:xfrm>
            <a:off x="311700" y="94375"/>
            <a:ext cx="8520600" cy="49233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PROS:</a:t>
            </a:r>
            <a:endParaRPr>
              <a:solidFill>
                <a:schemeClr val="dk1"/>
              </a:solidFill>
              <a:latin typeface="Times New Roman"/>
              <a:ea typeface="Times New Roman"/>
              <a:cs typeface="Times New Roman"/>
              <a:sym typeface="Times New Roman"/>
            </a:endParaRPr>
          </a:p>
          <a:p>
            <a:pPr indent="-228600" lvl="0" marL="190500" marR="63500" rtl="0" algn="l">
              <a:lnSpc>
                <a:spcPct val="137500"/>
              </a:lnSpc>
              <a:spcBef>
                <a:spcPts val="1200"/>
              </a:spcBef>
              <a:spcAft>
                <a:spcPts val="0"/>
              </a:spcAft>
              <a:buClr>
                <a:schemeClr val="dk1"/>
              </a:buClr>
              <a:buSzPct val="100000"/>
              <a:buNone/>
            </a:pPr>
            <a:r>
              <a:rPr b="1" lang="en" sz="1682">
                <a:solidFill>
                  <a:schemeClr val="dk1"/>
                </a:solidFill>
                <a:highlight>
                  <a:srgbClr val="FFFFFF"/>
                </a:highlight>
                <a:latin typeface="Times New Roman"/>
                <a:ea typeface="Times New Roman"/>
                <a:cs typeface="Times New Roman"/>
                <a:sym typeface="Times New Roman"/>
              </a:rPr>
              <a:t>Efficiency with Large Datasets:</a:t>
            </a:r>
            <a:br>
              <a:rPr b="1" lang="en" sz="1682">
                <a:solidFill>
                  <a:schemeClr val="dk1"/>
                </a:solidFill>
                <a:highlight>
                  <a:srgbClr val="FFFFFF"/>
                </a:highlight>
                <a:latin typeface="Times New Roman"/>
                <a:ea typeface="Times New Roman"/>
                <a:cs typeface="Times New Roman"/>
                <a:sym typeface="Times New Roman"/>
              </a:rPr>
            </a:br>
            <a:r>
              <a:rPr lang="en" sz="1682">
                <a:solidFill>
                  <a:schemeClr val="dk1"/>
                </a:solidFill>
                <a:highlight>
                  <a:srgbClr val="FFFFFF"/>
                </a:highlight>
                <a:latin typeface="Times New Roman"/>
                <a:ea typeface="Times New Roman"/>
                <a:cs typeface="Times New Roman"/>
                <a:sym typeface="Times New Roman"/>
              </a:rPr>
              <a:t>BIRCH excels at handling massive datasets by summarizing data points into a compact Cluster Feature (CF) tree, reducing memory usage. </a:t>
            </a:r>
            <a:endParaRPr sz="1682">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ct val="100000"/>
              <a:buNone/>
            </a:pPr>
            <a:r>
              <a:rPr b="1" lang="en" sz="1682">
                <a:solidFill>
                  <a:schemeClr val="dk1"/>
                </a:solidFill>
                <a:highlight>
                  <a:srgbClr val="FFFFFF"/>
                </a:highlight>
                <a:latin typeface="Times New Roman"/>
                <a:ea typeface="Times New Roman"/>
                <a:cs typeface="Times New Roman"/>
                <a:sym typeface="Times New Roman"/>
              </a:rPr>
              <a:t>Scalability:</a:t>
            </a:r>
            <a:br>
              <a:rPr b="1" lang="en" sz="1682">
                <a:solidFill>
                  <a:schemeClr val="dk1"/>
                </a:solidFill>
                <a:highlight>
                  <a:srgbClr val="FFFFFF"/>
                </a:highlight>
                <a:latin typeface="Times New Roman"/>
                <a:ea typeface="Times New Roman"/>
                <a:cs typeface="Times New Roman"/>
                <a:sym typeface="Times New Roman"/>
              </a:rPr>
            </a:br>
            <a:r>
              <a:rPr lang="en" sz="1682">
                <a:solidFill>
                  <a:schemeClr val="dk1"/>
                </a:solidFill>
                <a:highlight>
                  <a:srgbClr val="FFFFFF"/>
                </a:highlight>
                <a:latin typeface="Times New Roman"/>
                <a:ea typeface="Times New Roman"/>
                <a:cs typeface="Times New Roman"/>
                <a:sym typeface="Times New Roman"/>
              </a:rPr>
              <a:t>The algorithm scales well as the number of data points increases, making it suitable for big data applications. </a:t>
            </a:r>
            <a:endParaRPr sz="1682">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ct val="100000"/>
              <a:buNone/>
            </a:pPr>
            <a:r>
              <a:rPr b="1" lang="en" sz="1682">
                <a:solidFill>
                  <a:schemeClr val="dk1"/>
                </a:solidFill>
                <a:highlight>
                  <a:srgbClr val="FFFFFF"/>
                </a:highlight>
                <a:latin typeface="Times New Roman"/>
                <a:ea typeface="Times New Roman"/>
                <a:cs typeface="Times New Roman"/>
                <a:sym typeface="Times New Roman"/>
              </a:rPr>
              <a:t>Incremental Clustering:</a:t>
            </a:r>
            <a:br>
              <a:rPr b="1" lang="en" sz="1682">
                <a:solidFill>
                  <a:schemeClr val="dk1"/>
                </a:solidFill>
                <a:highlight>
                  <a:srgbClr val="FFFFFF"/>
                </a:highlight>
                <a:latin typeface="Times New Roman"/>
                <a:ea typeface="Times New Roman"/>
                <a:cs typeface="Times New Roman"/>
                <a:sym typeface="Times New Roman"/>
              </a:rPr>
            </a:br>
            <a:r>
              <a:rPr lang="en" sz="1682">
                <a:solidFill>
                  <a:schemeClr val="dk1"/>
                </a:solidFill>
                <a:highlight>
                  <a:srgbClr val="FFFFFF"/>
                </a:highlight>
                <a:latin typeface="Times New Roman"/>
                <a:ea typeface="Times New Roman"/>
                <a:cs typeface="Times New Roman"/>
                <a:sym typeface="Times New Roman"/>
              </a:rPr>
              <a:t>BIRCH can process data points one by one, making it suitable for real-time or streaming data analysis. </a:t>
            </a:r>
            <a:endParaRPr sz="1682">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ct val="100000"/>
              <a:buNone/>
            </a:pPr>
            <a:r>
              <a:rPr b="1" lang="en" sz="1682">
                <a:solidFill>
                  <a:schemeClr val="dk1"/>
                </a:solidFill>
                <a:highlight>
                  <a:srgbClr val="FFFFFF"/>
                </a:highlight>
                <a:latin typeface="Times New Roman"/>
                <a:ea typeface="Times New Roman"/>
                <a:cs typeface="Times New Roman"/>
                <a:sym typeface="Times New Roman"/>
              </a:rPr>
              <a:t>Outlier Handling:</a:t>
            </a:r>
            <a:br>
              <a:rPr b="1" lang="en" sz="1682">
                <a:solidFill>
                  <a:schemeClr val="dk1"/>
                </a:solidFill>
                <a:highlight>
                  <a:srgbClr val="FFFFFF"/>
                </a:highlight>
                <a:latin typeface="Times New Roman"/>
                <a:ea typeface="Times New Roman"/>
                <a:cs typeface="Times New Roman"/>
                <a:sym typeface="Times New Roman"/>
              </a:rPr>
            </a:br>
            <a:r>
              <a:rPr lang="en" sz="1682">
                <a:solidFill>
                  <a:schemeClr val="dk1"/>
                </a:solidFill>
                <a:highlight>
                  <a:srgbClr val="FFFFFF"/>
                </a:highlight>
                <a:latin typeface="Times New Roman"/>
                <a:ea typeface="Times New Roman"/>
                <a:cs typeface="Times New Roman"/>
                <a:sym typeface="Times New Roman"/>
              </a:rPr>
              <a:t>BIRCH can effectively handle outliers in the data.</a:t>
            </a:r>
            <a:endParaRPr sz="1682">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ct val="100000"/>
              <a:buNone/>
            </a:pPr>
            <a:r>
              <a:rPr b="1" lang="en" sz="1682">
                <a:solidFill>
                  <a:schemeClr val="dk1"/>
                </a:solidFill>
                <a:highlight>
                  <a:srgbClr val="FFFFFF"/>
                </a:highlight>
                <a:latin typeface="Times New Roman"/>
                <a:ea typeface="Times New Roman"/>
                <a:cs typeface="Times New Roman"/>
                <a:sym typeface="Times New Roman"/>
              </a:rPr>
              <a:t>No Need to Define K:</a:t>
            </a:r>
            <a:br>
              <a:rPr b="1" lang="en" sz="1682">
                <a:solidFill>
                  <a:schemeClr val="dk1"/>
                </a:solidFill>
                <a:highlight>
                  <a:srgbClr val="FFFFFF"/>
                </a:highlight>
                <a:latin typeface="Times New Roman"/>
                <a:ea typeface="Times New Roman"/>
                <a:cs typeface="Times New Roman"/>
                <a:sym typeface="Times New Roman"/>
              </a:rPr>
            </a:br>
            <a:r>
              <a:rPr lang="en" sz="1682">
                <a:solidFill>
                  <a:schemeClr val="dk1"/>
                </a:solidFill>
                <a:highlight>
                  <a:srgbClr val="FFFFFF"/>
                </a:highlight>
                <a:latin typeface="Times New Roman"/>
                <a:ea typeface="Times New Roman"/>
                <a:cs typeface="Times New Roman"/>
                <a:sym typeface="Times New Roman"/>
              </a:rPr>
              <a:t>Unlike some clustering algorithms, BIRCH does not require specifying the number of clusters (k) in advance. </a:t>
            </a:r>
            <a:endParaRPr sz="1682">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8"/>
          <p:cNvSpPr txBox="1"/>
          <p:nvPr>
            <p:ph idx="1" type="body"/>
          </p:nvPr>
        </p:nvSpPr>
        <p:spPr>
          <a:xfrm>
            <a:off x="311700" y="117975"/>
            <a:ext cx="8520600" cy="490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CONS:</a:t>
            </a:r>
            <a:endParaRPr>
              <a:solidFill>
                <a:schemeClr val="dk1"/>
              </a:solidFill>
              <a:latin typeface="Times New Roman"/>
              <a:ea typeface="Times New Roman"/>
              <a:cs typeface="Times New Roman"/>
              <a:sym typeface="Times New Roman"/>
            </a:endParaRPr>
          </a:p>
          <a:p>
            <a:pPr indent="-228600" lvl="0" marL="190500" marR="63500" rtl="0" algn="l">
              <a:lnSpc>
                <a:spcPct val="137500"/>
              </a:lnSpc>
              <a:spcBef>
                <a:spcPts val="1200"/>
              </a:spcBef>
              <a:spcAft>
                <a:spcPts val="0"/>
              </a:spcAft>
              <a:buClr>
                <a:schemeClr val="dk1"/>
              </a:buClr>
              <a:buSzPts val="1400"/>
              <a:buNone/>
            </a:pPr>
            <a:r>
              <a:rPr b="1" lang="en" sz="1400">
                <a:solidFill>
                  <a:schemeClr val="dk1"/>
                </a:solidFill>
                <a:highlight>
                  <a:srgbClr val="FFFFFF"/>
                </a:highlight>
                <a:latin typeface="Times New Roman"/>
                <a:ea typeface="Times New Roman"/>
                <a:cs typeface="Times New Roman"/>
                <a:sym typeface="Times New Roman"/>
              </a:rPr>
              <a:t>Sensitivity to Parameter Tuning:</a:t>
            </a:r>
            <a:br>
              <a:rPr b="1" lang="en" sz="1400">
                <a:solidFill>
                  <a:schemeClr val="dk1"/>
                </a:solidFill>
                <a:highlight>
                  <a:srgbClr val="FFFFFF"/>
                </a:highlight>
                <a:latin typeface="Times New Roman"/>
                <a:ea typeface="Times New Roman"/>
                <a:cs typeface="Times New Roman"/>
                <a:sym typeface="Times New Roman"/>
              </a:rPr>
            </a:br>
            <a:r>
              <a:rPr lang="en" sz="1400">
                <a:solidFill>
                  <a:schemeClr val="dk1"/>
                </a:solidFill>
                <a:highlight>
                  <a:srgbClr val="FFFFFF"/>
                </a:highlight>
                <a:latin typeface="Times New Roman"/>
                <a:ea typeface="Times New Roman"/>
                <a:cs typeface="Times New Roman"/>
                <a:sym typeface="Times New Roman"/>
              </a:rPr>
              <a:t>The performance of BIRCH can be affected by the choice of parameters like branching factor and threshold. </a:t>
            </a:r>
            <a:endParaRPr sz="14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400"/>
              <a:buNone/>
            </a:pPr>
            <a:r>
              <a:rPr b="1" lang="en" sz="1400">
                <a:solidFill>
                  <a:schemeClr val="dk1"/>
                </a:solidFill>
                <a:highlight>
                  <a:srgbClr val="FFFFFF"/>
                </a:highlight>
                <a:latin typeface="Times New Roman"/>
                <a:ea typeface="Times New Roman"/>
                <a:cs typeface="Times New Roman"/>
                <a:sym typeface="Times New Roman"/>
              </a:rPr>
              <a:t>Limited to Spherical Clusters:</a:t>
            </a:r>
            <a:br>
              <a:rPr b="1" lang="en" sz="1400">
                <a:solidFill>
                  <a:schemeClr val="dk1"/>
                </a:solidFill>
                <a:highlight>
                  <a:srgbClr val="FFFFFF"/>
                </a:highlight>
                <a:latin typeface="Times New Roman"/>
                <a:ea typeface="Times New Roman"/>
                <a:cs typeface="Times New Roman"/>
                <a:sym typeface="Times New Roman"/>
              </a:rPr>
            </a:br>
            <a:r>
              <a:rPr lang="en" sz="1400">
                <a:solidFill>
                  <a:schemeClr val="dk1"/>
                </a:solidFill>
                <a:highlight>
                  <a:srgbClr val="FFFFFF"/>
                </a:highlight>
                <a:latin typeface="Times New Roman"/>
                <a:ea typeface="Times New Roman"/>
                <a:cs typeface="Times New Roman"/>
                <a:sym typeface="Times New Roman"/>
              </a:rPr>
              <a:t>BIRCH tends to produce spherical clusters, which may not be suitable for datasets with complex or non-spherical shapes. </a:t>
            </a:r>
            <a:endParaRPr sz="14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400"/>
              <a:buNone/>
            </a:pPr>
            <a:r>
              <a:rPr b="1" lang="en" sz="1400">
                <a:solidFill>
                  <a:schemeClr val="dk1"/>
                </a:solidFill>
                <a:highlight>
                  <a:srgbClr val="FFFFFF"/>
                </a:highlight>
                <a:latin typeface="Times New Roman"/>
                <a:ea typeface="Times New Roman"/>
                <a:cs typeface="Times New Roman"/>
                <a:sym typeface="Times New Roman"/>
              </a:rPr>
              <a:t>High Dimensionality:</a:t>
            </a:r>
            <a:br>
              <a:rPr b="1" lang="en" sz="1400">
                <a:solidFill>
                  <a:schemeClr val="dk1"/>
                </a:solidFill>
                <a:highlight>
                  <a:srgbClr val="FFFFFF"/>
                </a:highlight>
                <a:latin typeface="Times New Roman"/>
                <a:ea typeface="Times New Roman"/>
                <a:cs typeface="Times New Roman"/>
                <a:sym typeface="Times New Roman"/>
              </a:rPr>
            </a:br>
            <a:r>
              <a:rPr lang="en" sz="1400">
                <a:solidFill>
                  <a:schemeClr val="dk1"/>
                </a:solidFill>
                <a:highlight>
                  <a:srgbClr val="FFFFFF"/>
                </a:highlight>
                <a:latin typeface="Times New Roman"/>
                <a:ea typeface="Times New Roman"/>
                <a:cs typeface="Times New Roman"/>
                <a:sym typeface="Times New Roman"/>
              </a:rPr>
              <a:t>BIRCH may struggle with datasets having a large number of features. </a:t>
            </a:r>
            <a:endParaRPr sz="14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400"/>
              <a:buNone/>
            </a:pPr>
            <a:r>
              <a:rPr b="1" lang="en" sz="1400">
                <a:solidFill>
                  <a:schemeClr val="dk1"/>
                </a:solidFill>
                <a:highlight>
                  <a:srgbClr val="FFFFFF"/>
                </a:highlight>
                <a:latin typeface="Times New Roman"/>
                <a:ea typeface="Times New Roman"/>
                <a:cs typeface="Times New Roman"/>
                <a:sym typeface="Times New Roman"/>
              </a:rPr>
              <a:t>Data Ordering Dependence:</a:t>
            </a:r>
            <a:br>
              <a:rPr b="1" lang="en" sz="1400">
                <a:solidFill>
                  <a:schemeClr val="dk1"/>
                </a:solidFill>
                <a:highlight>
                  <a:srgbClr val="FFFFFF"/>
                </a:highlight>
                <a:latin typeface="Times New Roman"/>
                <a:ea typeface="Times New Roman"/>
                <a:cs typeface="Times New Roman"/>
                <a:sym typeface="Times New Roman"/>
              </a:rPr>
            </a:br>
            <a:r>
              <a:rPr lang="en" sz="1400">
                <a:solidFill>
                  <a:schemeClr val="dk1"/>
                </a:solidFill>
                <a:highlight>
                  <a:srgbClr val="FFFFFF"/>
                </a:highlight>
                <a:latin typeface="Times New Roman"/>
                <a:ea typeface="Times New Roman"/>
                <a:cs typeface="Times New Roman"/>
                <a:sym typeface="Times New Roman"/>
              </a:rPr>
              <a:t>The CF tree construction can be influenced by the order of data points, potentially impacting the clustering results.</a:t>
            </a:r>
            <a:endParaRPr sz="1400">
              <a:solidFill>
                <a:schemeClr val="dk1"/>
              </a:solidFill>
              <a:highlight>
                <a:srgbClr val="FFFFFF"/>
              </a:highlight>
              <a:latin typeface="Times New Roman"/>
              <a:ea typeface="Times New Roman"/>
              <a:cs typeface="Times New Roman"/>
              <a:sym typeface="Times New Roman"/>
            </a:endParaRPr>
          </a:p>
          <a:p>
            <a:pPr indent="-228600" lvl="0" marL="190500" marR="63500" rtl="0" algn="l">
              <a:lnSpc>
                <a:spcPct val="137500"/>
              </a:lnSpc>
              <a:spcBef>
                <a:spcPts val="0"/>
              </a:spcBef>
              <a:spcAft>
                <a:spcPts val="0"/>
              </a:spcAft>
              <a:buClr>
                <a:schemeClr val="dk1"/>
              </a:buClr>
              <a:buSzPts val="1400"/>
              <a:buNone/>
            </a:pPr>
            <a:r>
              <a:rPr b="1" lang="en" sz="1400">
                <a:solidFill>
                  <a:schemeClr val="dk1"/>
                </a:solidFill>
                <a:highlight>
                  <a:srgbClr val="FFFFFF"/>
                </a:highlight>
                <a:latin typeface="Times New Roman"/>
                <a:ea typeface="Times New Roman"/>
                <a:cs typeface="Times New Roman"/>
                <a:sym typeface="Times New Roman"/>
              </a:rPr>
              <a:t>Not Ideal for Uneven Cluster Sizes:</a:t>
            </a:r>
            <a:br>
              <a:rPr b="1" lang="en" sz="1400">
                <a:solidFill>
                  <a:schemeClr val="dk1"/>
                </a:solidFill>
                <a:highlight>
                  <a:srgbClr val="FFFFFF"/>
                </a:highlight>
                <a:latin typeface="Times New Roman"/>
                <a:ea typeface="Times New Roman"/>
                <a:cs typeface="Times New Roman"/>
                <a:sym typeface="Times New Roman"/>
              </a:rPr>
            </a:br>
            <a:r>
              <a:rPr lang="en" sz="1400">
                <a:solidFill>
                  <a:schemeClr val="dk1"/>
                </a:solidFill>
                <a:highlight>
                  <a:srgbClr val="FFFFFF"/>
                </a:highlight>
                <a:latin typeface="Times New Roman"/>
                <a:ea typeface="Times New Roman"/>
                <a:cs typeface="Times New Roman"/>
                <a:sym typeface="Times New Roman"/>
              </a:rPr>
              <a:t>BIRCH may not perform well when dealing with datasets where clusters have significantly different sizes.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21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Verdana"/>
                <a:ea typeface="Verdana"/>
                <a:cs typeface="Verdana"/>
                <a:sym typeface="Verdana"/>
              </a:rPr>
              <a:t>Conclusion</a:t>
            </a:r>
            <a:endParaRPr>
              <a:latin typeface="Verdana"/>
              <a:ea typeface="Verdana"/>
              <a:cs typeface="Verdana"/>
              <a:sym typeface="Verdana"/>
            </a:endParaRPr>
          </a:p>
        </p:txBody>
      </p:sp>
      <p:sp>
        <p:nvSpPr>
          <p:cNvPr id="206" name="Google Shape;206;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Very useful in data mining</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Applicable for both text and graphical based data</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Help simplify data complexity</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Classification</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Detect hidden pattern in data</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